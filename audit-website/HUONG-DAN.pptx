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11"/>
    <p:sldId id="263" r:id="rId9"/>
    <p:sldId id="264" r:id="rId10"/>
    <p:sldId id="266" r:id="rId12"/>
    <p:sldId id="275" r:id="rId26"/>
    <p:sldId id="267" r:id="rId13"/>
    <p:sldId id="268" r:id="rId14"/>
    <p:sldId id="269" r:id="rId15"/>
    <p:sldId id="270" r:id="rId16"/>
    <p:sldId id="276" r:id="rId27"/>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2d6ce55-bffe-0ebf-67e0-e75341d592b1}">
          <p14:sldIdLst>
            <p14:sldId id="256"/>
            <p14:sldId id="257"/>
            <p14:sldId id="258"/>
          </p14:sldIdLst>
        </p14:section>
        <p14:section name="Trường hợp 1" id="{c08290cd-a4ce-3c44-5371-6e1429c82b73}">
          <p14:sldIdLst>
            <p14:sldId id="259"/>
            <p14:sldId id="260"/>
          </p14:sldIdLst>
        </p14:section>
        <p14:section name="Trường hợp 2" id="{d7b4fdbd-ff44-61a2-162f-83ff97e5a589}">
          <p14:sldIdLst>
            <p14:sldId id="261"/>
            <p14:sldId id="262"/>
            <p14:sldId id="263"/>
            <p14:sldId id="264"/>
            <p14:sldId id="265"/>
            <p14:sldId id="266"/>
          </p14:sldIdLst>
        </p14:section>
        <p14:section name="Dùng chung" id="{f411c36b-1480-dd38-bcb2-ae37a211c0a8}">
          <p14:sldIdLst>
            <p14:sldId id="267"/>
            <p14:sldId id="268"/>
            <p14:sldId id="269"/>
            <p14:sldId id="270"/>
          </p14:sldIdLst>
        </p14:section>
        <p14:section name="Tham khảo" id="{231f66ea-1ede-dee6-1b1d-90808b4e8a16}">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audit-website dùng AI agent để đo tốc độ website và lập báo cáo gửi khách. Site WordPress đã cài plugin Vietnix Pagespeed PRO thì agent tối ưu thêm qua plugin. Người dùng chỉ cần chat với agent, không cần đọc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hai trường hợp. Trường hợp 1 chỉ kiểm tra và báo cáo, không cần cài plugin. Trường hợp 2 kiểm tra, báo cáo và tối ưu, cần plugin đã nối MCP. Agent tự nhận ra site thuộc trường hợp nào, bạn chỉ cần gửi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trường hợp đều cần máy Mac có Chrome, Node.js và Python 3; Claude Code hoặc Cursor mở tại thư mục chứa audit-website; và một API key PageSpeed Insights lấy trên Google Cloud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hợp 1: chỉ kiểm tra và báo cáo. Không cần cài plugin, dùng cho site bất kỳ, agent không ghi gì lên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một, dán API key PageSpeed vào mục 1 của Do.md, chỉ làm một lần. Bước hai, gửi link cho agent; agent tự đo và viết báo cáo. Bước ba, mở thư mục reports, dán ảnh Network vào file Word rồi gửi khách. Muốn tối ưu thì cài plugin và chuyển sang trường hợp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hợp 2: kiểm tra, báo cáo và tối ưu. Cần site WordPress đã cài plugin và nối MCP. Agent chỉ ghi lên site sau khi bạn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hợp 2 có bốn bước: chuẩn bị một lần cho mỗi site, gửi link, chọn và duyệt ở các điểm dừng, rồi nhận báo cáo kết quả. Nếu MCP chưa nối hoặc đang nối site khác, agent làm như trường hợp 1 rồi dừng.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Vào wp-admin, tải file vietnix-pagespeed-pro.zip lên và kích hoạt. Vào Vietnix Optimization, tab MCP, tick Bật MCP, dán API key và bấm Lưu MCP. Ở mục Mẫu kết nối, copy mẫu của agent bạn dùng và dán theo bảng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dán mẫu, thoát và mở lại agent rồi hỏi MCP đang nối site nào. Agent phải trả đúng tên miền sắp làm. Một kết nối chỉ trỏ tới một site. Trang Mẫu kết nối chứa token và key thật, không chụp và không gửi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cả hai trường hợp, chỉ cần dán link vào chat. Agent tự điền Do.md rồi chạy. Mỗi lần chạy một tên miền, mỗi link tốn hai lượt PageSpeed.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trường hợp 2, agent chỉ dừng hỏi ở năm điểm này. Đổi option là áp cho cả site, còn dòng VPI, Critical CSS hay lazyload HTML chỉ áp cho một trang. Lúc nào cũng có thể hỏi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file nằm trong reports, thư mục theo ngày và tên miền. Cả hai trường hợp đều có báo cáo hiện trạng dạng Word và báo cáo kỹ thuật. Trường hợp 2 có thêm báo cáo kết quả sau tối ưu và file đề xuất bổ 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 ảnh Network trong file Word để trống cho bạn tự chụp. Mở link trong Chrome, mở DevTools, chọn tab Network, tải lại trang, rồi chụp thanh dưới cùng có DOMContentLoaded và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link đạt khi desktop tải xong trong 2 giây, mobile trong 3 giây, có cache, ảnh màn hình đầu hiện ngay, và bên thứ ba không làm chậm đáng kể. Kèm điều kiện điểm PageSpeed mobile và CLS không tệ hơn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 không minify, không gộp file, không cache, không sửa theme hay đổi ảnh và font. Plugin không sửa cấu hình LiteSpeed, không xóa cache toàn site và không tối ưu riêng trang tag. Những việc này nằm trong file Đề xuất bổ 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xử lý các lỗi thường gặp. Hầu hết lỗi kết nối được xử lý bằng cách copy lại mẫu kết nối và khởi động lại agent. Nếu trang vỡ giao diện sau tối ưu, yêu cầu agent rollback; khẩn cấp thì tắt Active All Optimize.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điều về bảo mật: không gửi token MCP hay ảnh trang Mẫu kết nối; xóa API key trong Do.md trước khi chia sẻ thư mục; báo cáo không chứa token hay key và không được lưu lên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ngắn các từ xuất hiện trong báo cáo và trong lúc agent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trường hợp 1 chỉ cần gửi link và nhận báo cáo. Trường hợp 2 gồm chuẩn bị, gửi link, chọn và duyệt, rồi nhận kết quả. Agent không ghi gì lên site khi bạn chưa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713232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rtlCol="0"/>
          <a:lstStyle>
            <a:lvl1pPr algn="l" indent="0" marL="0">
              <a:buNone/>
              <a:defRPr lang="en-US" sz="2000" b="1" dirty="0">
                <a:solidFill>
                  <a:schemeClr val="accent6"/>
                </a:solidFill>
              </a:defRPr>
            </a:lvl1pPr>
          </a:lstStyle>
          <a:p>
            <a:pPr algn="l" indent="0" marL="0">
              <a:buNone/>
            </a:pPr>
            <a:endParaRPr lang="en-US" sz="2000" dirty="0"/>
          </a:p>
        </p:txBody>
      </p:sp>
      <p:sp>
        <p:nvSpPr>
          <p:cNvPr id="3" name="Text 0"/>
          <p:cNvSpPr/>
          <p:nvPr>
            <p:ph idx="101" type="title" hasCustomPrompt="1"/>
          </p:nvPr>
        </p:nvSpPr>
        <p:spPr>
          <a:xfrm>
            <a:off x="731520" y="2286000"/>
            <a:ext cx="731520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657600"/>
            <a:ext cx="694944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Vietnix Pagespeed PRO · Hướng dẫn dùng</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1737360"/>
          </a:xfrm>
          <a:prstGeom prst="rect">
            <a:avLst/>
          </a:prstGeom>
          <a:noFill/>
          <a:ln/>
        </p:spPr>
        <p:txBody>
          <a:bodyPr wrap="square" lIns="0" tIns="0" rIns="0" bIns="0" rtlCol="0" anchor="b"/>
          <a:lstStyle/>
          <a:p>
            <a:pPr algn="l" indent="0" marL="0">
              <a:buNone/>
            </a:pPr>
            <a:r>
              <a:rPr lang="en-US" sz="4000" b="1" dirty="0">
                <a:solidFill>
                  <a:schemeClr val="bg1"/>
                </a:solidFill>
              </a:rPr>
              <a:t>Hướng dẫn dùng Vietnix Pagespeed PRO</a:t>
            </a:r>
            <a:endParaRPr lang="en-US" sz="4000" dirty="0"/>
          </a:p>
        </p:txBody>
      </p:sp>
      <p:sp>
        <p:nvSpPr>
          <p:cNvPr id="3" name="Text 0"/>
          <p:cNvSpPr/>
          <p:nvPr>
            <p:ph idx="101" type="body" hasCustomPrompt="1"/>
          </p:nvPr>
        </p:nvSpPr>
        <p:spPr>
          <a:xfrm>
            <a:off x="731520" y="3749040"/>
            <a:ext cx="7132320" cy="1097280"/>
          </a:xfrm>
          <a:prstGeom prst="rect">
            <a:avLst/>
          </a:prstGeom>
          <a:noFill/>
          <a:ln/>
        </p:spPr>
        <p:txBody>
          <a:bodyPr wrap="square" lIns="0" tIns="0" rIns="0" bIns="0" rtlCol="0" anchor="t"/>
          <a:lstStyle/>
          <a:p>
            <a:pPr algn="l" indent="0" marL="0">
              <a:buNone/>
            </a:pPr>
            <a:r>
              <a:rPr lang="en-US" sz="2000" dirty="0">
                <a:solidFill>
                  <a:schemeClr val="accent6"/>
                </a:solidFill>
              </a:rPr>
              <a:t>Đo tốc độ, báo cáo và tối ưu website bằng AI agent. Không cần đọc code.</a:t>
            </a:r>
            <a:endParaRPr lang="en-US" sz="2000" dirty="0"/>
          </a:p>
        </p:txBody>
      </p:sp>
      <p:sp>
        <p:nvSpPr>
          <p:cNvPr id="4" name="ring-1"/>
          <p:cNvSpPr/>
          <p:nvPr/>
        </p:nvSpPr>
        <p:spPr>
          <a:xfrm>
            <a:off x="8412480" y="1554480"/>
            <a:ext cx="3108960" cy="3108960"/>
          </a:xfrm>
          <a:prstGeom prst="donut">
            <a:avLst/>
          </a:prstGeom>
          <a:solidFill>
            <a:schemeClr val="accent1"/>
          </a:solidFill>
          <a:ln w="12700">
            <a:solidFill>
              <a:schemeClr val="accent1"/>
            </a:solidFill>
            <a:prstDash val="solid"/>
          </a:ln>
        </p:spPr>
      </p:sp>
      <p:sp>
        <p:nvSpPr>
          <p:cNvPr id="5" name="text-2"/>
          <p:cNvSpPr txBox="1"/>
          <p:nvPr/>
        </p:nvSpPr>
        <p:spPr>
          <a:xfrm>
            <a:off x="8412480" y="2148840"/>
            <a:ext cx="3108960" cy="1188720"/>
          </a:xfrm>
          <a:prstGeom prst="rect">
            <a:avLst/>
          </a:prstGeom>
          <a:noFill/>
          <a:ln/>
        </p:spPr>
        <p:txBody>
          <a:bodyPr wrap="square" lIns="0" tIns="0" rIns="0" bIns="0" rtlCol="0" anchor="ctr"/>
          <a:lstStyle/>
          <a:p>
            <a:pPr algn="ctr" indent="0" marL="0">
              <a:buNone/>
            </a:pPr>
            <a:r>
              <a:rPr lang="en-US" sz="8000" b="1" dirty="0">
                <a:solidFill>
                  <a:schemeClr val="bg1"/>
                </a:solidFill>
              </a:rPr>
              <a:t>2</a:t>
            </a:r>
            <a:endParaRPr lang="en-US" sz="8000" dirty="0"/>
          </a:p>
        </p:txBody>
      </p:sp>
      <p:sp>
        <p:nvSpPr>
          <p:cNvPr id="6" name="text-3"/>
          <p:cNvSpPr txBox="1"/>
          <p:nvPr/>
        </p:nvSpPr>
        <p:spPr>
          <a:xfrm>
            <a:off x="8412480" y="3291840"/>
            <a:ext cx="3108960" cy="457200"/>
          </a:xfrm>
          <a:prstGeom prst="rect">
            <a:avLst/>
          </a:prstGeom>
          <a:noFill/>
          <a:ln/>
        </p:spPr>
        <p:txBody>
          <a:bodyPr wrap="square" lIns="0" tIns="0" rIns="0" bIns="0" rtlCol="0" anchor="t"/>
          <a:lstStyle/>
          <a:p>
            <a:pPr algn="ctr" indent="0" marL="0">
              <a:buNone/>
            </a:pPr>
            <a:r>
              <a:rPr lang="en-US" sz="2000" dirty="0">
                <a:solidFill>
                  <a:schemeClr val="accent6"/>
                </a:solidFill>
              </a:rPr>
              <a:t>trường hợp</a:t>
            </a:r>
            <a:endParaRPr lang="en-US" sz="2000" dirty="0"/>
          </a:p>
        </p:txBody>
      </p:sp>
      <p:sp>
        <p:nvSpPr>
          <p:cNvPr id="7" name="text-4"/>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Claude Code · Cursor · plugin Vietnix Pagespeed PRO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Hai trường hợp, bạn chọn khi gửi link</a:t>
            </a:r>
            <a:endParaRPr lang="en-US" sz="3200" dirty="0"/>
          </a:p>
        </p:txBody>
      </p:sp>
      <p:sp>
        <p:nvSpPr>
          <p:cNvPr id="4" name="card-5"/>
          <p:cNvSpPr/>
          <p:nvPr/>
        </p:nvSpPr>
        <p:spPr>
          <a:xfrm>
            <a:off x="548640" y="1280160"/>
            <a:ext cx="5349240" cy="4526280"/>
          </a:xfrm>
          <a:prstGeom prst="roundRect">
            <a:avLst>
              <a:gd name="adj" fmla="val 2424"/>
            </a:avLst>
          </a:prstGeom>
          <a:solidFill>
            <a:schemeClr val="bg2"/>
          </a:solidFill>
          <a:ln/>
        </p:spPr>
      </p:sp>
      <p:sp>
        <p:nvSpPr>
          <p:cNvPr id="5" name="badge-6"/>
          <p:cNvSpPr/>
          <p:nvPr/>
        </p:nvSpPr>
        <p:spPr>
          <a:xfrm>
            <a:off x="868680" y="1554480"/>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7"/>
          <p:cNvSpPr txBox="1"/>
          <p:nvPr/>
        </p:nvSpPr>
        <p:spPr>
          <a:xfrm>
            <a:off x="1691640" y="1554480"/>
            <a:ext cx="4023360" cy="640080"/>
          </a:xfrm>
          <a:prstGeom prst="rect">
            <a:avLst/>
          </a:prstGeom>
          <a:noFill/>
          <a:ln/>
        </p:spPr>
        <p:txBody>
          <a:bodyPr wrap="square" lIns="0" tIns="0" rIns="0" bIns="0" rtlCol="0" anchor="ctr"/>
          <a:lstStyle/>
          <a:p>
            <a:pPr indent="0" marL="0">
              <a:buNone/>
            </a:pPr>
            <a:r>
              <a:rPr lang="en-US" sz="2100" b="1" dirty="0">
                <a:solidFill>
                  <a:schemeClr val="tx2"/>
                </a:solidFill>
              </a:rPr>
              <a:t>Chỉ khảo sát</a:t>
            </a:r>
            <a:endParaRPr lang="en-US" sz="2100" dirty="0"/>
          </a:p>
        </p:txBody>
      </p:sp>
      <p:sp>
        <p:nvSpPr>
          <p:cNvPr id="7" name="text-8"/>
          <p:cNvSpPr txBox="1"/>
          <p:nvPr/>
        </p:nvSpPr>
        <p:spPr>
          <a:xfrm>
            <a:off x="868680" y="246888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Khi nào</a:t>
            </a:r>
            <a:endParaRPr lang="en-US" sz="1400" dirty="0"/>
          </a:p>
        </p:txBody>
      </p:sp>
      <p:sp>
        <p:nvSpPr>
          <p:cNvPr id="8" name="text-9"/>
          <p:cNvSpPr txBox="1"/>
          <p:nvPr/>
        </p:nvSpPr>
        <p:spPr>
          <a:xfrm>
            <a:off x="2286000" y="2468880"/>
            <a:ext cx="3383280" cy="548640"/>
          </a:xfrm>
          <a:prstGeom prst="rect">
            <a:avLst/>
          </a:prstGeom>
          <a:noFill/>
          <a:ln/>
        </p:spPr>
        <p:txBody>
          <a:bodyPr wrap="square" lIns="0" tIns="0" rIns="0" bIns="0" rtlCol="0" anchor="t"/>
          <a:lstStyle/>
          <a:p>
            <a:pPr indent="0" marL="0">
              <a:buNone/>
            </a:pPr>
            <a:r>
              <a:rPr lang="en-US" sz="1400" dirty="0">
                <a:solidFill>
                  <a:schemeClr val="tx1"/>
                </a:solidFill>
              </a:rPr>
              <a:t>Khách chỉ cần biết hiện trạng</a:t>
            </a:r>
            <a:endParaRPr lang="en-US" sz="1400" dirty="0"/>
          </a:p>
        </p:txBody>
      </p:sp>
      <p:sp>
        <p:nvSpPr>
          <p:cNvPr id="9" name="text-10"/>
          <p:cNvSpPr txBox="1"/>
          <p:nvPr/>
        </p:nvSpPr>
        <p:spPr>
          <a:xfrm>
            <a:off x="868680" y="310896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Bạn cần</a:t>
            </a:r>
            <a:endParaRPr lang="en-US" sz="1400" dirty="0"/>
          </a:p>
        </p:txBody>
      </p:sp>
      <p:sp>
        <p:nvSpPr>
          <p:cNvPr id="10" name="text-11"/>
          <p:cNvSpPr txBox="1"/>
          <p:nvPr/>
        </p:nvSpPr>
        <p:spPr>
          <a:xfrm>
            <a:off x="2286000" y="3108960"/>
            <a:ext cx="3383280" cy="548640"/>
          </a:xfrm>
          <a:prstGeom prst="rect">
            <a:avLst/>
          </a:prstGeom>
          <a:noFill/>
          <a:ln/>
        </p:spPr>
        <p:txBody>
          <a:bodyPr wrap="square" lIns="0" tIns="0" rIns="0" bIns="0" rtlCol="0" anchor="t"/>
          <a:lstStyle/>
          <a:p>
            <a:pPr indent="0" marL="0">
              <a:buNone/>
            </a:pPr>
            <a:r>
              <a:rPr lang="en-US" sz="1400" dirty="0">
                <a:solidFill>
                  <a:schemeClr val="tx1"/>
                </a:solidFill>
              </a:rPr>
              <a:t>Link cần đo, API key PageSpeed</a:t>
            </a:r>
            <a:endParaRPr lang="en-US" sz="1400" dirty="0"/>
          </a:p>
        </p:txBody>
      </p:sp>
      <p:sp>
        <p:nvSpPr>
          <p:cNvPr id="11" name="text-12"/>
          <p:cNvSpPr txBox="1"/>
          <p:nvPr/>
        </p:nvSpPr>
        <p:spPr>
          <a:xfrm>
            <a:off x="868680" y="374904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Các bước</a:t>
            </a:r>
            <a:endParaRPr lang="en-US" sz="1400" dirty="0"/>
          </a:p>
        </p:txBody>
      </p:sp>
      <p:sp>
        <p:nvSpPr>
          <p:cNvPr id="12" name="text-13"/>
          <p:cNvSpPr txBox="1"/>
          <p:nvPr/>
        </p:nvSpPr>
        <p:spPr>
          <a:xfrm>
            <a:off x="2286000" y="3749040"/>
            <a:ext cx="3383280" cy="548640"/>
          </a:xfrm>
          <a:prstGeom prst="rect">
            <a:avLst/>
          </a:prstGeom>
          <a:noFill/>
          <a:ln/>
        </p:spPr>
        <p:txBody>
          <a:bodyPr wrap="square" lIns="0" tIns="0" rIns="0" bIns="0" rtlCol="0" anchor="t"/>
          <a:lstStyle/>
          <a:p>
            <a:pPr indent="0" marL="0">
              <a:buNone/>
            </a:pPr>
            <a:r>
              <a:rPr lang="en-US" sz="1400" dirty="0">
                <a:solidFill>
                  <a:schemeClr val="tx1"/>
                </a:solidFill>
              </a:rPr>
              <a:t>Gửi link → nhận báo cáo</a:t>
            </a:r>
            <a:endParaRPr lang="en-US" sz="1400" dirty="0"/>
          </a:p>
        </p:txBody>
      </p:sp>
      <p:sp>
        <p:nvSpPr>
          <p:cNvPr id="13" name="text-14"/>
          <p:cNvSpPr txBox="1"/>
          <p:nvPr/>
        </p:nvSpPr>
        <p:spPr>
          <a:xfrm>
            <a:off x="868680" y="438912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Nhận được</a:t>
            </a:r>
            <a:endParaRPr lang="en-US" sz="1400" dirty="0"/>
          </a:p>
        </p:txBody>
      </p:sp>
      <p:sp>
        <p:nvSpPr>
          <p:cNvPr id="14" name="text-15"/>
          <p:cNvSpPr txBox="1"/>
          <p:nvPr/>
        </p:nvSpPr>
        <p:spPr>
          <a:xfrm>
            <a:off x="2286000" y="4389120"/>
            <a:ext cx="3383280" cy="548640"/>
          </a:xfrm>
          <a:prstGeom prst="rect">
            <a:avLst/>
          </a:prstGeom>
          <a:noFill/>
          <a:ln/>
        </p:spPr>
        <p:txBody>
          <a:bodyPr wrap="square" lIns="0" tIns="0" rIns="0" bIns="0" rtlCol="0" anchor="t"/>
          <a:lstStyle/>
          <a:p>
            <a:pPr indent="0" marL="0">
              <a:buNone/>
            </a:pPr>
            <a:r>
              <a:rPr lang="en-US" sz="1400" dirty="0">
                <a:solidFill>
                  <a:schemeClr val="tx1"/>
                </a:solidFill>
              </a:rPr>
              <a:t>Báo cáo hiện trạng (Word và .md)</a:t>
            </a:r>
            <a:endParaRPr lang="en-US" sz="1400" dirty="0"/>
          </a:p>
        </p:txBody>
      </p:sp>
      <p:sp>
        <p:nvSpPr>
          <p:cNvPr id="15" name="text-16"/>
          <p:cNvSpPr txBox="1"/>
          <p:nvPr/>
        </p:nvSpPr>
        <p:spPr>
          <a:xfrm>
            <a:off x="868680" y="502920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Ghi lên site</a:t>
            </a:r>
            <a:endParaRPr lang="en-US" sz="1400" dirty="0"/>
          </a:p>
        </p:txBody>
      </p:sp>
      <p:sp>
        <p:nvSpPr>
          <p:cNvPr id="16" name="text-17"/>
          <p:cNvSpPr txBox="1"/>
          <p:nvPr/>
        </p:nvSpPr>
        <p:spPr>
          <a:xfrm>
            <a:off x="2286000" y="5029200"/>
            <a:ext cx="3383280" cy="548640"/>
          </a:xfrm>
          <a:prstGeom prst="rect">
            <a:avLst/>
          </a:prstGeom>
          <a:noFill/>
          <a:ln/>
        </p:spPr>
        <p:txBody>
          <a:bodyPr wrap="square" lIns="0" tIns="0" rIns="0" bIns="0" rtlCol="0" anchor="t"/>
          <a:lstStyle/>
          <a:p>
            <a:pPr indent="0" marL="0">
              <a:buNone/>
            </a:pPr>
            <a:r>
              <a:rPr lang="en-US" sz="1400" dirty="0">
                <a:solidFill>
                  <a:schemeClr val="tx1"/>
                </a:solidFill>
              </a:rPr>
              <a:t>Không</a:t>
            </a:r>
            <a:endParaRPr lang="en-US" sz="1400" dirty="0"/>
          </a:p>
        </p:txBody>
      </p:sp>
      <p:sp>
        <p:nvSpPr>
          <p:cNvPr id="17" name="card-18"/>
          <p:cNvSpPr/>
          <p:nvPr/>
        </p:nvSpPr>
        <p:spPr>
          <a:xfrm>
            <a:off x="6263640" y="1280160"/>
            <a:ext cx="5349240" cy="4526280"/>
          </a:xfrm>
          <a:prstGeom prst="roundRect">
            <a:avLst>
              <a:gd name="adj" fmla="val 2424"/>
            </a:avLst>
          </a:prstGeom>
          <a:solidFill>
            <a:schemeClr val="bg2"/>
          </a:solidFill>
          <a:ln/>
        </p:spPr>
      </p:sp>
      <p:sp>
        <p:nvSpPr>
          <p:cNvPr id="18" name="badge-19"/>
          <p:cNvSpPr/>
          <p:nvPr/>
        </p:nvSpPr>
        <p:spPr>
          <a:xfrm>
            <a:off x="6583680" y="1554480"/>
            <a:ext cx="640080" cy="64008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9" name="text-20"/>
          <p:cNvSpPr txBox="1"/>
          <p:nvPr/>
        </p:nvSpPr>
        <p:spPr>
          <a:xfrm>
            <a:off x="7406640" y="1554480"/>
            <a:ext cx="4023360" cy="640080"/>
          </a:xfrm>
          <a:prstGeom prst="rect">
            <a:avLst/>
          </a:prstGeom>
          <a:noFill/>
          <a:ln/>
        </p:spPr>
        <p:txBody>
          <a:bodyPr wrap="square" lIns="0" tIns="0" rIns="0" bIns="0" rtlCol="0" anchor="ctr"/>
          <a:lstStyle/>
          <a:p>
            <a:pPr indent="0" marL="0">
              <a:buNone/>
            </a:pPr>
            <a:r>
              <a:rPr lang="en-US" sz="2100" b="1" dirty="0">
                <a:solidFill>
                  <a:schemeClr val="tx2"/>
                </a:solidFill>
              </a:rPr>
              <a:t>Khảo sát và tối ưu</a:t>
            </a:r>
            <a:endParaRPr lang="en-US" sz="2100" dirty="0"/>
          </a:p>
        </p:txBody>
      </p:sp>
      <p:sp>
        <p:nvSpPr>
          <p:cNvPr id="20" name="text-21"/>
          <p:cNvSpPr txBox="1"/>
          <p:nvPr/>
        </p:nvSpPr>
        <p:spPr>
          <a:xfrm>
            <a:off x="6583680" y="246888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Khi nào</a:t>
            </a:r>
            <a:endParaRPr lang="en-US" sz="1400" dirty="0"/>
          </a:p>
        </p:txBody>
      </p:sp>
      <p:sp>
        <p:nvSpPr>
          <p:cNvPr id="21" name="text-22"/>
          <p:cNvSpPr txBox="1"/>
          <p:nvPr/>
        </p:nvSpPr>
        <p:spPr>
          <a:xfrm>
            <a:off x="8001000" y="2468880"/>
            <a:ext cx="3383280" cy="548640"/>
          </a:xfrm>
          <a:prstGeom prst="rect">
            <a:avLst/>
          </a:prstGeom>
          <a:noFill/>
          <a:ln/>
        </p:spPr>
        <p:txBody>
          <a:bodyPr wrap="square" lIns="0" tIns="0" rIns="0" bIns="0" rtlCol="0" anchor="t"/>
          <a:lstStyle/>
          <a:p>
            <a:pPr indent="0" marL="0">
              <a:buNone/>
            </a:pPr>
            <a:r>
              <a:rPr lang="en-US" sz="1400" dirty="0">
                <a:solidFill>
                  <a:schemeClr val="tx1"/>
                </a:solidFill>
              </a:rPr>
              <a:t>Khách cần tối ưu. Có báo cáo khảo sát thì dùng lại</a:t>
            </a:r>
            <a:endParaRPr lang="en-US" sz="1400" dirty="0"/>
          </a:p>
        </p:txBody>
      </p:sp>
      <p:sp>
        <p:nvSpPr>
          <p:cNvPr id="22" name="text-23"/>
          <p:cNvSpPr txBox="1"/>
          <p:nvPr/>
        </p:nvSpPr>
        <p:spPr>
          <a:xfrm>
            <a:off x="6583680" y="310896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Bạn cần</a:t>
            </a:r>
            <a:endParaRPr lang="en-US" sz="1400" dirty="0"/>
          </a:p>
        </p:txBody>
      </p:sp>
      <p:sp>
        <p:nvSpPr>
          <p:cNvPr id="23" name="text-24"/>
          <p:cNvSpPr txBox="1"/>
          <p:nvPr/>
        </p:nvSpPr>
        <p:spPr>
          <a:xfrm>
            <a:off x="8001000" y="3108960"/>
            <a:ext cx="3383280" cy="548640"/>
          </a:xfrm>
          <a:prstGeom prst="rect">
            <a:avLst/>
          </a:prstGeom>
          <a:noFill/>
          <a:ln/>
        </p:spPr>
        <p:txBody>
          <a:bodyPr wrap="square" lIns="0" tIns="0" rIns="0" bIns="0" rtlCol="0" anchor="t"/>
          <a:lstStyle/>
          <a:p>
            <a:pPr indent="0" marL="0">
              <a:buNone/>
            </a:pPr>
            <a:r>
              <a:rPr lang="en-US" sz="1400" dirty="0">
                <a:solidFill>
                  <a:schemeClr val="tx1"/>
                </a:solidFill>
              </a:rPr>
              <a:t>Thêm file plugin, tài khoản admin WordPress</a:t>
            </a:r>
            <a:endParaRPr lang="en-US" sz="1400" dirty="0"/>
          </a:p>
        </p:txBody>
      </p:sp>
      <p:sp>
        <p:nvSpPr>
          <p:cNvPr id="24" name="text-25"/>
          <p:cNvSpPr txBox="1"/>
          <p:nvPr/>
        </p:nvSpPr>
        <p:spPr>
          <a:xfrm>
            <a:off x="6583680" y="374904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Các bước</a:t>
            </a:r>
            <a:endParaRPr lang="en-US" sz="1400" dirty="0"/>
          </a:p>
        </p:txBody>
      </p:sp>
      <p:sp>
        <p:nvSpPr>
          <p:cNvPr id="25" name="text-26"/>
          <p:cNvSpPr txBox="1"/>
          <p:nvPr/>
        </p:nvSpPr>
        <p:spPr>
          <a:xfrm>
            <a:off x="8001000" y="3749040"/>
            <a:ext cx="3383280" cy="548640"/>
          </a:xfrm>
          <a:prstGeom prst="rect">
            <a:avLst/>
          </a:prstGeom>
          <a:noFill/>
          <a:ln/>
        </p:spPr>
        <p:txBody>
          <a:bodyPr wrap="square" lIns="0" tIns="0" rIns="0" bIns="0" rtlCol="0" anchor="t"/>
          <a:lstStyle/>
          <a:p>
            <a:pPr indent="0" marL="0">
              <a:buNone/>
            </a:pPr>
            <a:r>
              <a:rPr lang="en-US" sz="1400" dirty="0">
                <a:solidFill>
                  <a:schemeClr val="tx1"/>
                </a:solidFill>
              </a:rPr>
              <a:t>Gửi link → plugin → duyệt → nghiệm thu</a:t>
            </a:r>
            <a:endParaRPr lang="en-US" sz="1400" dirty="0"/>
          </a:p>
        </p:txBody>
      </p:sp>
      <p:sp>
        <p:nvSpPr>
          <p:cNvPr id="26" name="text-27"/>
          <p:cNvSpPr txBox="1"/>
          <p:nvPr/>
        </p:nvSpPr>
        <p:spPr>
          <a:xfrm>
            <a:off x="6583680" y="438912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Nhận được</a:t>
            </a:r>
            <a:endParaRPr lang="en-US" sz="1400" dirty="0"/>
          </a:p>
        </p:txBody>
      </p:sp>
      <p:sp>
        <p:nvSpPr>
          <p:cNvPr id="27" name="text-28"/>
          <p:cNvSpPr txBox="1"/>
          <p:nvPr/>
        </p:nvSpPr>
        <p:spPr>
          <a:xfrm>
            <a:off x="8001000" y="4389120"/>
            <a:ext cx="3383280" cy="548640"/>
          </a:xfrm>
          <a:prstGeom prst="rect">
            <a:avLst/>
          </a:prstGeom>
          <a:noFill/>
          <a:ln/>
        </p:spPr>
        <p:txBody>
          <a:bodyPr wrap="square" lIns="0" tIns="0" rIns="0" bIns="0" rtlCol="0" anchor="t"/>
          <a:lstStyle/>
          <a:p>
            <a:pPr indent="0" marL="0">
              <a:buNone/>
            </a:pPr>
            <a:r>
              <a:rPr lang="en-US" sz="1400" dirty="0">
                <a:solidFill>
                  <a:schemeClr val="tx1"/>
                </a:solidFill>
              </a:rPr>
              <a:t>Hiện trạng, nghiệm thu, đề xuất bổ sung</a:t>
            </a:r>
            <a:endParaRPr lang="en-US" sz="1400" dirty="0"/>
          </a:p>
        </p:txBody>
      </p:sp>
      <p:sp>
        <p:nvSpPr>
          <p:cNvPr id="28" name="text-29"/>
          <p:cNvSpPr txBox="1"/>
          <p:nvPr/>
        </p:nvSpPr>
        <p:spPr>
          <a:xfrm>
            <a:off x="6583680" y="5029200"/>
            <a:ext cx="1371600" cy="548640"/>
          </a:xfrm>
          <a:prstGeom prst="rect">
            <a:avLst/>
          </a:prstGeom>
          <a:noFill/>
          <a:ln/>
        </p:spPr>
        <p:txBody>
          <a:bodyPr wrap="square" lIns="0" tIns="0" rIns="0" bIns="0" rtlCol="0" anchor="t"/>
          <a:lstStyle/>
          <a:p>
            <a:pPr indent="0" marL="0">
              <a:buNone/>
            </a:pPr>
            <a:r>
              <a:rPr lang="en-US" sz="1400" b="1" dirty="0">
                <a:solidFill>
                  <a:schemeClr val="accent1"/>
                </a:solidFill>
              </a:rPr>
              <a:t>Ghi lên site</a:t>
            </a:r>
            <a:endParaRPr lang="en-US" sz="1400" dirty="0"/>
          </a:p>
        </p:txBody>
      </p:sp>
      <p:sp>
        <p:nvSpPr>
          <p:cNvPr id="29" name="text-30"/>
          <p:cNvSpPr txBox="1"/>
          <p:nvPr/>
        </p:nvSpPr>
        <p:spPr>
          <a:xfrm>
            <a:off x="8001000" y="5029200"/>
            <a:ext cx="3383280" cy="548640"/>
          </a:xfrm>
          <a:prstGeom prst="rect">
            <a:avLst/>
          </a:prstGeom>
          <a:noFill/>
          <a:ln/>
        </p:spPr>
        <p:txBody>
          <a:bodyPr wrap="square" lIns="0" tIns="0" rIns="0" bIns="0" rtlCol="0" anchor="t"/>
          <a:lstStyle/>
          <a:p>
            <a:pPr indent="0" marL="0">
              <a:buNone/>
            </a:pPr>
            <a:r>
              <a:rPr lang="en-US" sz="1400" dirty="0">
                <a:solidFill>
                  <a:schemeClr val="tx1"/>
                </a:solidFill>
              </a:rPr>
              <a:t>Chỉ sau khi bạn xác nhận từng thay đổi</a:t>
            </a:r>
            <a:endParaRPr lang="en-US" sz="1400" dirty="0"/>
          </a:p>
        </p:txBody>
      </p:sp>
      <p:sp>
        <p:nvSpPr>
          <p:cNvPr id="30" name="text-31"/>
          <p:cNvSpPr txBox="1"/>
          <p:nvPr/>
        </p:nvSpPr>
        <p:spPr>
          <a:xfrm>
            <a:off x="548640" y="5925312"/>
            <a:ext cx="11064240" cy="365760"/>
          </a:xfrm>
          <a:prstGeom prst="rect">
            <a:avLst/>
          </a:prstGeom>
          <a:noFill/>
          <a:ln/>
        </p:spPr>
        <p:txBody>
          <a:bodyPr wrap="square" lIns="0" tIns="0" rIns="0" bIns="0" rtlCol="0" anchor="t"/>
          <a:lstStyle/>
          <a:p>
            <a:pPr indent="0" marL="0">
              <a:buNone/>
            </a:pPr>
            <a:r>
              <a:rPr lang="en-US" sz="1500" i="1" dirty="0">
                <a:solidFill>
                  <a:schemeClr val="accent5"/>
                </a:solidFill>
              </a:rPr>
              <a:t>Nói rõ khảo sát hay tối ưu khi gửi link. Không nói thì agent hỏi lại.</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Cần có cho cả hai trường hợp</a:t>
            </a:r>
            <a:endParaRPr lang="en-US" sz="3200" dirty="0"/>
          </a:p>
        </p:txBody>
      </p:sp>
      <p:sp>
        <p:nvSpPr>
          <p:cNvPr id="4" name="card-32"/>
          <p:cNvSpPr/>
          <p:nvPr/>
        </p:nvSpPr>
        <p:spPr>
          <a:xfrm>
            <a:off x="548640" y="1371600"/>
            <a:ext cx="3520440" cy="4389120"/>
          </a:xfrm>
          <a:prstGeom prst="roundRect">
            <a:avLst>
              <a:gd name="adj" fmla="val 3117"/>
            </a:avLst>
          </a:prstGeom>
          <a:solidFill>
            <a:schemeClr val="bg2"/>
          </a:solidFill>
          <a:ln/>
        </p:spPr>
      </p:sp>
      <p:sp>
        <p:nvSpPr>
          <p:cNvPr id="5" name="badge-33"/>
          <p:cNvSpPr/>
          <p:nvPr/>
        </p:nvSpPr>
        <p:spPr>
          <a:xfrm>
            <a:off x="868680" y="1691640"/>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34"/>
          <p:cNvSpPr txBox="1"/>
          <p:nvPr/>
        </p:nvSpPr>
        <p:spPr>
          <a:xfrm>
            <a:off x="868680" y="2560320"/>
            <a:ext cx="2880360" cy="731520"/>
          </a:xfrm>
          <a:prstGeom prst="rect">
            <a:avLst/>
          </a:prstGeom>
          <a:noFill/>
          <a:ln/>
        </p:spPr>
        <p:txBody>
          <a:bodyPr wrap="square" lIns="0" tIns="0" rIns="0" bIns="0" rtlCol="0" anchor="t"/>
          <a:lstStyle/>
          <a:p>
            <a:pPr indent="0" marL="0">
              <a:buNone/>
            </a:pPr>
            <a:r>
              <a:rPr lang="en-US" sz="2000" b="1" dirty="0">
                <a:solidFill>
                  <a:schemeClr val="tx2"/>
                </a:solidFill>
              </a:rPr>
              <a:t>Máy Mac</a:t>
            </a:r>
            <a:endParaRPr lang="en-US" sz="2000" dirty="0"/>
          </a:p>
        </p:txBody>
      </p:sp>
      <p:sp>
        <p:nvSpPr>
          <p:cNvPr id="7" name="text-35"/>
          <p:cNvSpPr txBox="1"/>
          <p:nvPr/>
        </p:nvSpPr>
        <p:spPr>
          <a:xfrm>
            <a:off x="868680" y="3337560"/>
            <a:ext cx="2880360" cy="2194560"/>
          </a:xfrm>
          <a:prstGeom prst="rect">
            <a:avLst/>
          </a:prstGeom>
          <a:noFill/>
          <a:ln/>
        </p:spPr>
        <p:txBody>
          <a:bodyPr wrap="square" lIns="0" tIns="0" rIns="0" bIns="0" rtlCol="0" anchor="t"/>
          <a:lstStyle/>
          <a:p>
            <a:pPr indent="0" marL="0">
              <a:buNone/>
            </a:pPr>
            <a:r>
              <a:rPr lang="en-US" sz="1500" dirty="0">
                <a:solidFill>
                  <a:schemeClr val="tx1"/>
                </a:solidFill>
              </a:rPr>
              <a:t>Có Google Chrome, Node.js và Python 3. Agent dùng chúng để đo tải thật và tạo file Word.</a:t>
            </a:r>
            <a:endParaRPr lang="en-US" sz="1500" dirty="0"/>
          </a:p>
        </p:txBody>
      </p:sp>
      <p:sp>
        <p:nvSpPr>
          <p:cNvPr id="8" name="card-36"/>
          <p:cNvSpPr/>
          <p:nvPr/>
        </p:nvSpPr>
        <p:spPr>
          <a:xfrm>
            <a:off x="4315968" y="1371600"/>
            <a:ext cx="3520440" cy="4389120"/>
          </a:xfrm>
          <a:prstGeom prst="roundRect">
            <a:avLst>
              <a:gd name="adj" fmla="val 3117"/>
            </a:avLst>
          </a:prstGeom>
          <a:solidFill>
            <a:schemeClr val="bg2"/>
          </a:solidFill>
          <a:ln/>
        </p:spPr>
      </p:sp>
      <p:sp>
        <p:nvSpPr>
          <p:cNvPr id="9" name="badge-37"/>
          <p:cNvSpPr/>
          <p:nvPr/>
        </p:nvSpPr>
        <p:spPr>
          <a:xfrm>
            <a:off x="4636008" y="1691640"/>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38"/>
          <p:cNvSpPr txBox="1"/>
          <p:nvPr/>
        </p:nvSpPr>
        <p:spPr>
          <a:xfrm>
            <a:off x="4636008" y="2560320"/>
            <a:ext cx="2880360" cy="731520"/>
          </a:xfrm>
          <a:prstGeom prst="rect">
            <a:avLst/>
          </a:prstGeom>
          <a:noFill/>
          <a:ln/>
        </p:spPr>
        <p:txBody>
          <a:bodyPr wrap="square" lIns="0" tIns="0" rIns="0" bIns="0" rtlCol="0" anchor="t"/>
          <a:lstStyle/>
          <a:p>
            <a:pPr indent="0" marL="0">
              <a:buNone/>
            </a:pPr>
            <a:r>
              <a:rPr lang="en-US" sz="2000" b="1" dirty="0">
                <a:solidFill>
                  <a:schemeClr val="tx2"/>
                </a:solidFill>
              </a:rPr>
              <a:t>Claude Code hoặc Cursor</a:t>
            </a:r>
            <a:endParaRPr lang="en-US" sz="2000" dirty="0"/>
          </a:p>
        </p:txBody>
      </p:sp>
      <p:sp>
        <p:nvSpPr>
          <p:cNvPr id="11" name="text-39"/>
          <p:cNvSpPr txBox="1"/>
          <p:nvPr/>
        </p:nvSpPr>
        <p:spPr>
          <a:xfrm>
            <a:off x="4636008" y="3337560"/>
            <a:ext cx="2880360" cy="2194560"/>
          </a:xfrm>
          <a:prstGeom prst="rect">
            <a:avLst/>
          </a:prstGeom>
          <a:noFill/>
          <a:ln/>
        </p:spPr>
        <p:txBody>
          <a:bodyPr wrap="square" lIns="0" tIns="0" rIns="0" bIns="0" rtlCol="0" anchor="t"/>
          <a:lstStyle/>
          <a:p>
            <a:pPr indent="0" marL="0">
              <a:buNone/>
            </a:pPr>
            <a:r>
              <a:rPr lang="en-US" sz="1500" dirty="0">
                <a:solidFill>
                  <a:schemeClr val="tx1"/>
                </a:solidFill>
              </a:rPr>
              <a:t>Mở tại thư mục chứa </a:t>
            </a:r>
            <a:pPr indent="0" marL="0">
              <a:buNone/>
            </a:pPr>
            <a:r>
              <a:rPr lang="en-US" sz="1500" dirty="0">
                <a:solidFill>
                  <a:schemeClr val="tx1"/>
                </a:solidFill>
                <a:latin typeface="Courier New" pitchFamily="34" charset="0"/>
                <a:ea typeface="Courier New" pitchFamily="34" charset="-122"/>
                <a:cs typeface="Courier New" pitchFamily="34" charset="-120"/>
              </a:rPr>
              <a:t>audit-website</a:t>
            </a:r>
            <a:pPr indent="0" marL="0">
              <a:buNone/>
            </a:pPr>
            <a:r>
              <a:rPr lang="en-US" sz="1500" dirty="0">
                <a:solidFill>
                  <a:schemeClr val="tx1"/>
                </a:solidFill>
              </a:rPr>
              <a:t>. Claude trên web và Codex chỉ đo được điểm PageSpeed, không đo tải thật.</a:t>
            </a:r>
            <a:endParaRPr lang="en-US" sz="1500" dirty="0"/>
          </a:p>
        </p:txBody>
      </p:sp>
      <p:sp>
        <p:nvSpPr>
          <p:cNvPr id="12" name="card-40"/>
          <p:cNvSpPr/>
          <p:nvPr/>
        </p:nvSpPr>
        <p:spPr>
          <a:xfrm>
            <a:off x="8083296" y="1371600"/>
            <a:ext cx="3520440" cy="4389120"/>
          </a:xfrm>
          <a:prstGeom prst="roundRect">
            <a:avLst>
              <a:gd name="adj" fmla="val 3117"/>
            </a:avLst>
          </a:prstGeom>
          <a:solidFill>
            <a:schemeClr val="bg2"/>
          </a:solidFill>
          <a:ln/>
        </p:spPr>
      </p:sp>
      <p:sp>
        <p:nvSpPr>
          <p:cNvPr id="13" name="badge-41"/>
          <p:cNvSpPr/>
          <p:nvPr/>
        </p:nvSpPr>
        <p:spPr>
          <a:xfrm>
            <a:off x="8403336" y="1691640"/>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42"/>
          <p:cNvSpPr txBox="1"/>
          <p:nvPr/>
        </p:nvSpPr>
        <p:spPr>
          <a:xfrm>
            <a:off x="8403336" y="2560320"/>
            <a:ext cx="2880360" cy="731520"/>
          </a:xfrm>
          <a:prstGeom prst="rect">
            <a:avLst/>
          </a:prstGeom>
          <a:noFill/>
          <a:ln/>
        </p:spPr>
        <p:txBody>
          <a:bodyPr wrap="square" lIns="0" tIns="0" rIns="0" bIns="0" rtlCol="0" anchor="t"/>
          <a:lstStyle/>
          <a:p>
            <a:pPr indent="0" marL="0">
              <a:buNone/>
            </a:pPr>
            <a:r>
              <a:rPr lang="en-US" sz="2000" b="1" dirty="0">
                <a:solidFill>
                  <a:schemeClr val="tx2"/>
                </a:solidFill>
              </a:rPr>
              <a:t>API key PageSpeed</a:t>
            </a:r>
            <a:endParaRPr lang="en-US" sz="2000" dirty="0"/>
          </a:p>
        </p:txBody>
      </p:sp>
      <p:sp>
        <p:nvSpPr>
          <p:cNvPr id="15" name="text-43"/>
          <p:cNvSpPr txBox="1"/>
          <p:nvPr/>
        </p:nvSpPr>
        <p:spPr>
          <a:xfrm>
            <a:off x="8403336" y="3337560"/>
            <a:ext cx="2880360" cy="2194560"/>
          </a:xfrm>
          <a:prstGeom prst="rect">
            <a:avLst/>
          </a:prstGeom>
          <a:noFill/>
          <a:ln/>
        </p:spPr>
        <p:txBody>
          <a:bodyPr wrap="square" lIns="0" tIns="0" rIns="0" bIns="0" rtlCol="0" anchor="t"/>
          <a:lstStyle/>
          <a:p>
            <a:pPr indent="0" marL="0">
              <a:buNone/>
            </a:pPr>
            <a:r>
              <a:rPr lang="en-US" sz="1500" dirty="0">
                <a:solidFill>
                  <a:schemeClr val="tx1"/>
                </a:solidFill>
              </a:rPr>
              <a:t>Google Cloud Console → APIs &amp; Services → bật PageSpeed Insights API → Credentials → Create credentials → API key.</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2000" b="1" dirty="0">
                <a:solidFill>
                  <a:schemeClr val="accent6"/>
                </a:solidFill>
              </a:rPr>
              <a:t>Trường hợp 1</a:t>
            </a:r>
            <a:endParaRPr lang="en-US" sz="2000" dirty="0"/>
          </a:p>
        </p:txBody>
      </p:sp>
      <p:sp>
        <p:nvSpPr>
          <p:cNvPr id="3" name="Text 0"/>
          <p:cNvSpPr/>
          <p:nvPr>
            <p:ph idx="101" type="title" hasCustomPrompt="1"/>
          </p:nvPr>
        </p:nvSpPr>
        <p:spPr>
          <a:xfrm>
            <a:off x="731520" y="2286000"/>
            <a:ext cx="7315200" cy="1188720"/>
          </a:xfrm>
          <a:prstGeom prst="rect">
            <a:avLst/>
          </a:prstGeom>
          <a:noFill/>
          <a:ln/>
        </p:spPr>
        <p:txBody>
          <a:bodyPr wrap="square" lIns="0" tIns="0" rIns="0" bIns="0" rtlCol="0" anchor="t"/>
          <a:lstStyle/>
          <a:p>
            <a:pPr algn="l" indent="0" marL="0">
              <a:buNone/>
            </a:pPr>
            <a:r>
              <a:rPr lang="en-US" sz="4400" b="1" dirty="0">
                <a:solidFill>
                  <a:schemeClr val="bg1"/>
                </a:solidFill>
              </a:rPr>
              <a:t>Chỉ khảo sát</a:t>
            </a:r>
            <a:endParaRPr lang="en-US" sz="4400" dirty="0"/>
          </a:p>
        </p:txBody>
      </p:sp>
      <p:sp>
        <p:nvSpPr>
          <p:cNvPr id="4" name="Text 0"/>
          <p:cNvSpPr/>
          <p:nvPr>
            <p:ph idx="102" type="body" hasCustomPrompt="1"/>
          </p:nvPr>
        </p:nvSpPr>
        <p:spPr>
          <a:xfrm>
            <a:off x="731520" y="3657600"/>
            <a:ext cx="6949440" cy="1371600"/>
          </a:xfrm>
          <a:prstGeom prst="rect">
            <a:avLst/>
          </a:prstGeom>
          <a:noFill/>
          <a:ln/>
        </p:spPr>
        <p:txBody>
          <a:bodyPr wrap="square" lIns="0" tIns="0" rIns="0" bIns="0" rtlCol="0" anchor="t"/>
          <a:lstStyle/>
          <a:p>
            <a:pPr algn="l" indent="0" marL="0">
              <a:buNone/>
            </a:pPr>
            <a:r>
              <a:rPr lang="en-US" sz="2000" dirty="0">
                <a:solidFill>
                  <a:schemeClr val="bg2"/>
                </a:solidFill>
              </a:rPr>
              <a:t>Không cần cài plugin. Dùng được cho site bất kỳ. Agent không ghi gì lên site.</a:t>
            </a:r>
            <a:endParaRPr lang="en-US" sz="2000" dirty="0"/>
          </a:p>
        </p:txBody>
      </p:sp>
      <p:sp>
        <p:nvSpPr>
          <p:cNvPr id="5" name="badge-44"/>
          <p:cNvSpPr/>
          <p:nvPr/>
        </p:nvSpPr>
        <p:spPr>
          <a:xfrm>
            <a:off x="8778240" y="1828800"/>
            <a:ext cx="2377440" cy="23774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9600" b="1" dirty="0">
                <a:solidFill>
                  <a:schemeClr val="bg1"/>
                </a:solidFill>
              </a:rPr>
              <a:t>1</a:t>
            </a:r>
            <a:endParaRPr lang="en-US" sz="9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Trường hợp 1: ba bước</a:t>
            </a:r>
            <a:endParaRPr lang="en-US" sz="3200" dirty="0"/>
          </a:p>
        </p:txBody>
      </p:sp>
      <p:sp>
        <p:nvSpPr>
          <p:cNvPr id="4" name="card-45"/>
          <p:cNvSpPr/>
          <p:nvPr/>
        </p:nvSpPr>
        <p:spPr>
          <a:xfrm>
            <a:off x="548640" y="1371600"/>
            <a:ext cx="3108960" cy="3291840"/>
          </a:xfrm>
          <a:prstGeom prst="roundRect">
            <a:avLst>
              <a:gd name="adj" fmla="val 3529"/>
            </a:avLst>
          </a:prstGeom>
          <a:solidFill>
            <a:schemeClr val="bg2"/>
          </a:solidFill>
          <a:ln/>
        </p:spPr>
      </p:sp>
      <p:sp>
        <p:nvSpPr>
          <p:cNvPr id="5" name="badge-46"/>
          <p:cNvSpPr/>
          <p:nvPr/>
        </p:nvSpPr>
        <p:spPr>
          <a:xfrm>
            <a:off x="822960" y="16459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text-47"/>
          <p:cNvSpPr txBox="1"/>
          <p:nvPr/>
        </p:nvSpPr>
        <p:spPr>
          <a:xfrm>
            <a:off x="822960" y="2423160"/>
            <a:ext cx="2560320" cy="502920"/>
          </a:xfrm>
          <a:prstGeom prst="rect">
            <a:avLst/>
          </a:prstGeom>
          <a:noFill/>
          <a:ln/>
        </p:spPr>
        <p:txBody>
          <a:bodyPr wrap="square" lIns="0" tIns="0" rIns="0" bIns="0" rtlCol="0" anchor="t"/>
          <a:lstStyle/>
          <a:p>
            <a:pPr indent="0" marL="0">
              <a:buNone/>
            </a:pPr>
            <a:r>
              <a:rPr lang="en-US" sz="2000" b="1" dirty="0">
                <a:solidFill>
                  <a:schemeClr val="tx2"/>
                </a:solidFill>
              </a:rPr>
              <a:t>Dán API key</a:t>
            </a:r>
            <a:endParaRPr lang="en-US" sz="2000" dirty="0"/>
          </a:p>
        </p:txBody>
      </p:sp>
      <p:sp>
        <p:nvSpPr>
          <p:cNvPr id="7" name="text-48"/>
          <p:cNvSpPr txBox="1"/>
          <p:nvPr/>
        </p:nvSpPr>
        <p:spPr>
          <a:xfrm>
            <a:off x="822960" y="2971800"/>
            <a:ext cx="2560320" cy="1600200"/>
          </a:xfrm>
          <a:prstGeom prst="rect">
            <a:avLst/>
          </a:prstGeom>
          <a:noFill/>
          <a:ln/>
        </p:spPr>
        <p:txBody>
          <a:bodyPr wrap="square" lIns="0" tIns="0" rIns="0" bIns="0" rtlCol="0" anchor="t"/>
          <a:lstStyle/>
          <a:p>
            <a:pPr indent="0" marL="0">
              <a:buNone/>
            </a:pPr>
            <a:r>
              <a:rPr lang="en-US" sz="1500" dirty="0">
                <a:solidFill>
                  <a:schemeClr val="tx1"/>
                </a:solidFill>
              </a:rPr>
              <a:t>Mở </a:t>
            </a:r>
            <a:pPr indent="0" marL="0">
              <a:buNone/>
            </a:pPr>
            <a:r>
              <a:rPr lang="en-US" sz="1500" dirty="0">
                <a:solidFill>
                  <a:schemeClr val="tx1"/>
                </a:solidFill>
                <a:latin typeface="Courier New" pitchFamily="34" charset="0"/>
                <a:ea typeface="Courier New" pitchFamily="34" charset="-122"/>
                <a:cs typeface="Courier New" pitchFamily="34" charset="-120"/>
              </a:rPr>
              <a:t>Do.md</a:t>
            </a:r>
            <a:pPr indent="0" marL="0">
              <a:buNone/>
            </a:pPr>
            <a:r>
              <a:rPr lang="en-US" sz="1500" dirty="0">
                <a:solidFill>
                  <a:schemeClr val="tx1"/>
                </a:solidFill>
              </a:rPr>
              <a:t>, dán API key PageSpeed vào mục 1. Chỉ làm một lần. Để trống thì agent lấy điểm trên pagespeed.web.dev.</a:t>
            </a:r>
            <a:endParaRPr lang="en-US" sz="1500" dirty="0"/>
          </a:p>
        </p:txBody>
      </p:sp>
      <p:sp>
        <p:nvSpPr>
          <p:cNvPr id="8" name="arrow-49"/>
          <p:cNvSpPr/>
          <p:nvPr/>
        </p:nvSpPr>
        <p:spPr>
          <a:xfrm>
            <a:off x="3858768" y="2743200"/>
            <a:ext cx="457200" cy="548640"/>
          </a:xfrm>
          <a:prstGeom prst="chevron">
            <a:avLst/>
          </a:prstGeom>
          <a:solidFill>
            <a:schemeClr val="accent6"/>
          </a:solidFill>
          <a:ln w="12700">
            <a:solidFill>
              <a:schemeClr val="accent6"/>
            </a:solidFill>
            <a:prstDash val="solid"/>
          </a:ln>
        </p:spPr>
      </p:sp>
      <p:sp>
        <p:nvSpPr>
          <p:cNvPr id="9" name="card-50"/>
          <p:cNvSpPr/>
          <p:nvPr/>
        </p:nvSpPr>
        <p:spPr>
          <a:xfrm>
            <a:off x="4526280" y="1371600"/>
            <a:ext cx="3108960" cy="3291840"/>
          </a:xfrm>
          <a:prstGeom prst="roundRect">
            <a:avLst>
              <a:gd name="adj" fmla="val 3529"/>
            </a:avLst>
          </a:prstGeom>
          <a:solidFill>
            <a:schemeClr val="bg2"/>
          </a:solidFill>
          <a:ln/>
        </p:spPr>
      </p:sp>
      <p:sp>
        <p:nvSpPr>
          <p:cNvPr id="10" name="badge-51"/>
          <p:cNvSpPr/>
          <p:nvPr/>
        </p:nvSpPr>
        <p:spPr>
          <a:xfrm>
            <a:off x="4800600" y="16459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text-52"/>
          <p:cNvSpPr txBox="1"/>
          <p:nvPr/>
        </p:nvSpPr>
        <p:spPr>
          <a:xfrm>
            <a:off x="4800600" y="2423160"/>
            <a:ext cx="2560320" cy="502920"/>
          </a:xfrm>
          <a:prstGeom prst="rect">
            <a:avLst/>
          </a:prstGeom>
          <a:noFill/>
          <a:ln/>
        </p:spPr>
        <p:txBody>
          <a:bodyPr wrap="square" lIns="0" tIns="0" rIns="0" bIns="0" rtlCol="0" anchor="t"/>
          <a:lstStyle/>
          <a:p>
            <a:pPr indent="0" marL="0">
              <a:buNone/>
            </a:pPr>
            <a:r>
              <a:rPr lang="en-US" sz="2000" b="1" dirty="0">
                <a:solidFill>
                  <a:schemeClr val="tx2"/>
                </a:solidFill>
              </a:rPr>
              <a:t>Gửi link</a:t>
            </a:r>
            <a:endParaRPr lang="en-US" sz="2000" dirty="0"/>
          </a:p>
        </p:txBody>
      </p:sp>
      <p:sp>
        <p:nvSpPr>
          <p:cNvPr id="12" name="text-53"/>
          <p:cNvSpPr txBox="1"/>
          <p:nvPr/>
        </p:nvSpPr>
        <p:spPr>
          <a:xfrm>
            <a:off x="4800600" y="2971800"/>
            <a:ext cx="2560320" cy="1600200"/>
          </a:xfrm>
          <a:prstGeom prst="rect">
            <a:avLst/>
          </a:prstGeom>
          <a:noFill/>
          <a:ln/>
        </p:spPr>
        <p:txBody>
          <a:bodyPr wrap="square" lIns="0" tIns="0" rIns="0" bIns="0" rtlCol="0" anchor="t"/>
          <a:lstStyle/>
          <a:p>
            <a:pPr indent="0" marL="0">
              <a:buNone/>
            </a:pPr>
            <a:r>
              <a:rPr lang="en-US" sz="1500" dirty="0">
                <a:solidFill>
                  <a:schemeClr val="tx1"/>
                </a:solidFill>
              </a:rPr>
              <a:t>Dán link, nhắn Khảo sát. Agent tự đo và viết báo cáo, không hỏi gì.</a:t>
            </a:r>
            <a:endParaRPr lang="en-US" sz="1500" dirty="0"/>
          </a:p>
        </p:txBody>
      </p:sp>
      <p:sp>
        <p:nvSpPr>
          <p:cNvPr id="13" name="arrow-54"/>
          <p:cNvSpPr/>
          <p:nvPr/>
        </p:nvSpPr>
        <p:spPr>
          <a:xfrm>
            <a:off x="7836408" y="2743200"/>
            <a:ext cx="457200" cy="548640"/>
          </a:xfrm>
          <a:prstGeom prst="chevron">
            <a:avLst/>
          </a:prstGeom>
          <a:solidFill>
            <a:schemeClr val="accent6"/>
          </a:solidFill>
          <a:ln w="12700">
            <a:solidFill>
              <a:schemeClr val="accent6"/>
            </a:solidFill>
            <a:prstDash val="solid"/>
          </a:ln>
        </p:spPr>
      </p:sp>
      <p:sp>
        <p:nvSpPr>
          <p:cNvPr id="14" name="card-55"/>
          <p:cNvSpPr/>
          <p:nvPr/>
        </p:nvSpPr>
        <p:spPr>
          <a:xfrm>
            <a:off x="8503920" y="1371600"/>
            <a:ext cx="3108960" cy="3291840"/>
          </a:xfrm>
          <a:prstGeom prst="roundRect">
            <a:avLst>
              <a:gd name="adj" fmla="val 3529"/>
            </a:avLst>
          </a:prstGeom>
          <a:solidFill>
            <a:schemeClr val="bg2"/>
          </a:solidFill>
          <a:ln/>
        </p:spPr>
      </p:sp>
      <p:sp>
        <p:nvSpPr>
          <p:cNvPr id="15" name="badge-56"/>
          <p:cNvSpPr/>
          <p:nvPr/>
        </p:nvSpPr>
        <p:spPr>
          <a:xfrm>
            <a:off x="8778240" y="16459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6" name="text-57"/>
          <p:cNvSpPr txBox="1"/>
          <p:nvPr/>
        </p:nvSpPr>
        <p:spPr>
          <a:xfrm>
            <a:off x="8778240" y="2423160"/>
            <a:ext cx="2560320" cy="502920"/>
          </a:xfrm>
          <a:prstGeom prst="rect">
            <a:avLst/>
          </a:prstGeom>
          <a:noFill/>
          <a:ln/>
        </p:spPr>
        <p:txBody>
          <a:bodyPr wrap="square" lIns="0" tIns="0" rIns="0" bIns="0" rtlCol="0" anchor="t"/>
          <a:lstStyle/>
          <a:p>
            <a:pPr indent="0" marL="0">
              <a:buNone/>
            </a:pPr>
            <a:r>
              <a:rPr lang="en-US" sz="2000" b="1" dirty="0">
                <a:solidFill>
                  <a:schemeClr val="tx2"/>
                </a:solidFill>
              </a:rPr>
              <a:t>Nhận báo cáo</a:t>
            </a:r>
            <a:endParaRPr lang="en-US" sz="2000" dirty="0"/>
          </a:p>
        </p:txBody>
      </p:sp>
      <p:sp>
        <p:nvSpPr>
          <p:cNvPr id="17" name="text-58"/>
          <p:cNvSpPr txBox="1"/>
          <p:nvPr/>
        </p:nvSpPr>
        <p:spPr>
          <a:xfrm>
            <a:off x="8778240" y="2971800"/>
            <a:ext cx="2560320" cy="1600200"/>
          </a:xfrm>
          <a:prstGeom prst="rect">
            <a:avLst/>
          </a:prstGeom>
          <a:noFill/>
          <a:ln/>
        </p:spPr>
        <p:txBody>
          <a:bodyPr wrap="square" lIns="0" tIns="0" rIns="0" bIns="0" rtlCol="0" anchor="t"/>
          <a:lstStyle/>
          <a:p>
            <a:pPr indent="0" marL="0">
              <a:buNone/>
            </a:pPr>
            <a:r>
              <a:rPr lang="en-US" sz="1500" dirty="0">
                <a:solidFill>
                  <a:schemeClr val="tx1"/>
                </a:solidFill>
              </a:rPr>
              <a:t>Mở </a:t>
            </a:r>
            <a:pPr indent="0" marL="0">
              <a:buNone/>
            </a:pPr>
            <a:r>
              <a:rPr lang="en-US" sz="1500" dirty="0">
                <a:solidFill>
                  <a:schemeClr val="tx1"/>
                </a:solidFill>
                <a:latin typeface="Courier New" pitchFamily="34" charset="0"/>
                <a:ea typeface="Courier New" pitchFamily="34" charset="-122"/>
                <a:cs typeface="Courier New" pitchFamily="34" charset="-120"/>
              </a:rPr>
              <a:t>reports/</a:t>
            </a:r>
            <a:pPr indent="0" marL="0">
              <a:buNone/>
            </a:pPr>
            <a:r>
              <a:rPr lang="en-US" sz="1500" dirty="0">
                <a:solidFill>
                  <a:schemeClr val="tx1"/>
                </a:solidFill>
              </a:rPr>
              <a:t>, dán ảnh Network vào file Word rồi gửi khách.</a:t>
            </a:r>
            <a:endParaRPr lang="en-US" sz="1500" dirty="0"/>
          </a:p>
        </p:txBody>
      </p:sp>
      <p:sp>
        <p:nvSpPr>
          <p:cNvPr id="18" name="card-59"/>
          <p:cNvSpPr/>
          <p:nvPr/>
        </p:nvSpPr>
        <p:spPr>
          <a:xfrm>
            <a:off x="548640" y="4937760"/>
            <a:ext cx="11064240" cy="1097280"/>
          </a:xfrm>
          <a:prstGeom prst="roundRect">
            <a:avLst>
              <a:gd name="adj" fmla="val 10000"/>
            </a:avLst>
          </a:prstGeom>
          <a:solidFill>
            <a:schemeClr val="bg2"/>
          </a:solidFill>
          <a:ln/>
        </p:spPr>
      </p:sp>
      <p:sp>
        <p:nvSpPr>
          <p:cNvPr id="19" name="text-60"/>
          <p:cNvSpPr txBox="1"/>
          <p:nvPr/>
        </p:nvSpPr>
        <p:spPr>
          <a:xfrm>
            <a:off x="822960" y="4937760"/>
            <a:ext cx="10515600" cy="1097280"/>
          </a:xfrm>
          <a:prstGeom prst="rect">
            <a:avLst/>
          </a:prstGeom>
          <a:noFill/>
          <a:ln/>
        </p:spPr>
        <p:txBody>
          <a:bodyPr wrap="square" lIns="0" tIns="0" rIns="0" bIns="0" rtlCol="0" anchor="ctr"/>
          <a:lstStyle/>
          <a:p>
            <a:pPr indent="0" marL="0">
              <a:buNone/>
            </a:pPr>
            <a:r>
              <a:rPr lang="en-US" sz="1500" dirty="0">
                <a:solidFill>
                  <a:schemeClr val="tx1"/>
                </a:solidFill>
              </a:rPr>
              <a:t>Việc plugin làm được sau khi cài được ghi trong báo cáo là </a:t>
            </a:r>
            <a:pPr indent="0" marL="0">
              <a:buNone/>
            </a:pPr>
            <a:r>
              <a:rPr lang="en-US" sz="1500" dirty="0">
                <a:solidFill>
                  <a:schemeClr val="tx1"/>
                </a:solidFill>
                <a:latin typeface="Courier New" pitchFamily="34" charset="0"/>
                <a:ea typeface="Courier New" pitchFamily="34" charset="-122"/>
                <a:cs typeface="Courier New" pitchFamily="34" charset="-120"/>
              </a:rPr>
              <a:t>cần plugin</a:t>
            </a:r>
            <a:pPr indent="0" marL="0">
              <a:buNone/>
            </a:pPr>
            <a:r>
              <a:rPr lang="en-US" sz="1500" dirty="0">
                <a:solidFill>
                  <a:schemeClr val="tx1"/>
                </a:solidFill>
              </a:rPr>
              <a:t>. Muốn tối ưu sau: gửi lại link, nhắn Tối ưu. Agent dùng lại báo cáo này.</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2000" b="1" dirty="0">
                <a:solidFill>
                  <a:schemeClr val="accent6"/>
                </a:solidFill>
              </a:rPr>
              <a:t>Trường hợp 2</a:t>
            </a:r>
            <a:endParaRPr lang="en-US" sz="2000" dirty="0"/>
          </a:p>
        </p:txBody>
      </p:sp>
      <p:sp>
        <p:nvSpPr>
          <p:cNvPr id="3" name="Text 0"/>
          <p:cNvSpPr/>
          <p:nvPr>
            <p:ph idx="101" type="title" hasCustomPrompt="1"/>
          </p:nvPr>
        </p:nvSpPr>
        <p:spPr>
          <a:xfrm>
            <a:off x="731520" y="2286000"/>
            <a:ext cx="7315200" cy="1188720"/>
          </a:xfrm>
          <a:prstGeom prst="rect">
            <a:avLst/>
          </a:prstGeom>
          <a:noFill/>
          <a:ln/>
        </p:spPr>
        <p:txBody>
          <a:bodyPr wrap="square" lIns="0" tIns="0" rIns="0" bIns="0" rtlCol="0" anchor="t"/>
          <a:lstStyle/>
          <a:p>
            <a:pPr algn="l" indent="0" marL="0">
              <a:buNone/>
            </a:pPr>
            <a:r>
              <a:rPr lang="en-US" sz="4400" b="1" dirty="0">
                <a:solidFill>
                  <a:schemeClr val="bg1"/>
                </a:solidFill>
              </a:rPr>
              <a:t>Khảo sát và tối ưu</a:t>
            </a:r>
            <a:endParaRPr lang="en-US" sz="4400" dirty="0"/>
          </a:p>
        </p:txBody>
      </p:sp>
      <p:sp>
        <p:nvSpPr>
          <p:cNvPr id="4" name="Text 0"/>
          <p:cNvSpPr/>
          <p:nvPr>
            <p:ph idx="102" type="body" hasCustomPrompt="1"/>
          </p:nvPr>
        </p:nvSpPr>
        <p:spPr>
          <a:xfrm>
            <a:off x="731520" y="3657600"/>
            <a:ext cx="6949440" cy="1371600"/>
          </a:xfrm>
          <a:prstGeom prst="rect">
            <a:avLst/>
          </a:prstGeom>
          <a:noFill/>
          <a:ln/>
        </p:spPr>
        <p:txBody>
          <a:bodyPr wrap="square" lIns="0" tIns="0" rIns="0" bIns="0" rtlCol="0" anchor="t"/>
          <a:lstStyle/>
          <a:p>
            <a:pPr algn="l" indent="0" marL="0">
              <a:buNone/>
            </a:pPr>
            <a:r>
              <a:rPr lang="en-US" sz="2000" dirty="0">
                <a:solidFill>
                  <a:schemeClr val="bg2"/>
                </a:solidFill>
              </a:rPr>
              <a:t>Có báo cáo khảo sát thì dùng lại, chưa có thì khảo sát trước. Agent chỉ ghi lên site sau khi bạn xác nhận.</a:t>
            </a:r>
            <a:endParaRPr lang="en-US" sz="2000" dirty="0"/>
          </a:p>
        </p:txBody>
      </p:sp>
      <p:sp>
        <p:nvSpPr>
          <p:cNvPr id="5" name="badge-61"/>
          <p:cNvSpPr/>
          <p:nvPr/>
        </p:nvSpPr>
        <p:spPr>
          <a:xfrm>
            <a:off x="8778240" y="1828800"/>
            <a:ext cx="2377440" cy="23774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9600" b="1" dirty="0">
                <a:solidFill>
                  <a:schemeClr val="bg1"/>
                </a:solidFill>
              </a:rPr>
              <a:t>2</a:t>
            </a:r>
            <a:endParaRPr lang="en-US" sz="9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Trường hợp 2: bốn bước</a:t>
            </a:r>
            <a:endParaRPr lang="en-US" sz="3200" dirty="0"/>
          </a:p>
        </p:txBody>
      </p:sp>
      <p:sp>
        <p:nvSpPr>
          <p:cNvPr id="4" name="timeline-62"/>
          <p:cNvSpPr/>
          <p:nvPr/>
        </p:nvSpPr>
        <p:spPr>
          <a:xfrm>
            <a:off x="1828800" y="1965960"/>
            <a:ext cx="8503920" cy="0"/>
          </a:xfrm>
          <a:prstGeom prst="line">
            <a:avLst/>
          </a:prstGeom>
          <a:noFill/>
          <a:ln w="38100">
            <a:solidFill>
              <a:schemeClr val="accent6"/>
            </a:solidFill>
            <a:prstDash val="solid"/>
          </a:ln>
        </p:spPr>
      </p:sp>
      <p:sp>
        <p:nvSpPr>
          <p:cNvPr id="5" name="badge-63"/>
          <p:cNvSpPr/>
          <p:nvPr/>
        </p:nvSpPr>
        <p:spPr>
          <a:xfrm>
            <a:off x="1417320" y="1554480"/>
            <a:ext cx="822960" cy="8229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300" b="1" dirty="0">
                <a:solidFill>
                  <a:schemeClr val="bg1"/>
                </a:solidFill>
              </a:rPr>
              <a:t>1</a:t>
            </a:r>
            <a:endParaRPr lang="en-US" sz="2300" dirty="0"/>
          </a:p>
        </p:txBody>
      </p:sp>
      <p:sp>
        <p:nvSpPr>
          <p:cNvPr id="6" name="text-64"/>
          <p:cNvSpPr txBox="1"/>
          <p:nvPr/>
        </p:nvSpPr>
        <p:spPr>
          <a:xfrm>
            <a:off x="548640" y="2606040"/>
            <a:ext cx="2560320" cy="457200"/>
          </a:xfrm>
          <a:prstGeom prst="rect">
            <a:avLst/>
          </a:prstGeom>
          <a:noFill/>
          <a:ln/>
        </p:spPr>
        <p:txBody>
          <a:bodyPr wrap="square" lIns="0" tIns="0" rIns="0" bIns="0" rtlCol="0" anchor="t"/>
          <a:lstStyle/>
          <a:p>
            <a:pPr algn="ctr" indent="0" marL="0">
              <a:buNone/>
            </a:pPr>
            <a:r>
              <a:rPr lang="en-US" sz="2000" b="1" dirty="0">
                <a:solidFill>
                  <a:schemeClr val="tx2"/>
                </a:solidFill>
              </a:rPr>
              <a:t>Gửi link (Phase 1)</a:t>
            </a:r>
            <a:endParaRPr lang="en-US" sz="2000" dirty="0"/>
          </a:p>
        </p:txBody>
      </p:sp>
      <p:sp>
        <p:nvSpPr>
          <p:cNvPr id="7" name="text-65"/>
          <p:cNvSpPr txBox="1"/>
          <p:nvPr/>
        </p:nvSpPr>
        <p:spPr>
          <a:xfrm>
            <a:off x="548640" y="3108960"/>
            <a:ext cx="2560320" cy="1280160"/>
          </a:xfrm>
          <a:prstGeom prst="rect">
            <a:avLst/>
          </a:prstGeom>
          <a:noFill/>
          <a:ln/>
        </p:spPr>
        <p:txBody>
          <a:bodyPr wrap="square" lIns="0" tIns="0" rIns="0" bIns="0" rtlCol="0" anchor="t"/>
          <a:lstStyle/>
          <a:p>
            <a:pPr algn="ctr" indent="0" marL="0">
              <a:buNone/>
            </a:pPr>
            <a:r>
              <a:rPr lang="en-US" sz="1500" dirty="0">
                <a:solidFill>
                  <a:schemeClr val="tx1"/>
                </a:solidFill>
              </a:rPr>
              <a:t>Agent dùng lại báo cáo khảo sát đúng tên miền, hoặc làm mới</a:t>
            </a:r>
            <a:endParaRPr lang="en-US" sz="1500" dirty="0"/>
          </a:p>
        </p:txBody>
      </p:sp>
      <p:sp>
        <p:nvSpPr>
          <p:cNvPr id="8" name="badge-66"/>
          <p:cNvSpPr/>
          <p:nvPr/>
        </p:nvSpPr>
        <p:spPr>
          <a:xfrm>
            <a:off x="4251960" y="1554480"/>
            <a:ext cx="822960" cy="8229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300" b="1" dirty="0">
                <a:solidFill>
                  <a:schemeClr val="bg1"/>
                </a:solidFill>
              </a:rPr>
              <a:t>2</a:t>
            </a:r>
            <a:endParaRPr lang="en-US" sz="2300" dirty="0"/>
          </a:p>
        </p:txBody>
      </p:sp>
      <p:sp>
        <p:nvSpPr>
          <p:cNvPr id="9" name="text-67"/>
          <p:cNvSpPr txBox="1"/>
          <p:nvPr/>
        </p:nvSpPr>
        <p:spPr>
          <a:xfrm>
            <a:off x="3383280" y="2606040"/>
            <a:ext cx="2560320" cy="457200"/>
          </a:xfrm>
          <a:prstGeom prst="rect">
            <a:avLst/>
          </a:prstGeom>
          <a:noFill/>
          <a:ln/>
        </p:spPr>
        <p:txBody>
          <a:bodyPr wrap="square" lIns="0" tIns="0" rIns="0" bIns="0" rtlCol="0" anchor="t"/>
          <a:lstStyle/>
          <a:p>
            <a:pPr algn="ctr" indent="0" marL="0">
              <a:buNone/>
            </a:pPr>
            <a:r>
              <a:rPr lang="en-US" sz="2000" b="1" dirty="0">
                <a:solidFill>
                  <a:schemeClr val="tx2"/>
                </a:solidFill>
              </a:rPr>
              <a:t>Cài plugin</a:t>
            </a:r>
            <a:endParaRPr lang="en-US" sz="2000" dirty="0"/>
          </a:p>
        </p:txBody>
      </p:sp>
      <p:sp>
        <p:nvSpPr>
          <p:cNvPr id="10" name="text-68"/>
          <p:cNvSpPr txBox="1"/>
          <p:nvPr/>
        </p:nvSpPr>
        <p:spPr>
          <a:xfrm>
            <a:off x="3383280" y="3108960"/>
            <a:ext cx="2560320" cy="1280160"/>
          </a:xfrm>
          <a:prstGeom prst="rect">
            <a:avLst/>
          </a:prstGeom>
          <a:noFill/>
          <a:ln/>
        </p:spPr>
        <p:txBody>
          <a:bodyPr wrap="square" lIns="0" tIns="0" rIns="0" bIns="0" rtlCol="0" anchor="t"/>
          <a:lstStyle/>
          <a:p>
            <a:pPr algn="ctr" indent="0" marL="0">
              <a:buNone/>
            </a:pPr>
            <a:r>
              <a:rPr lang="en-US" sz="1500" dirty="0">
                <a:solidFill>
                  <a:schemeClr val="tx1"/>
                </a:solidFill>
              </a:rPr>
              <a:t>Cài plugin, nối agent nếu chưa. Agent đo lại 3 lần, lấy số giữa</a:t>
            </a:r>
            <a:endParaRPr lang="en-US" sz="1500" dirty="0"/>
          </a:p>
        </p:txBody>
      </p:sp>
      <p:sp>
        <p:nvSpPr>
          <p:cNvPr id="11" name="badge-69"/>
          <p:cNvSpPr/>
          <p:nvPr/>
        </p:nvSpPr>
        <p:spPr>
          <a:xfrm>
            <a:off x="7086600" y="155448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300" b="1" dirty="0">
                <a:solidFill>
                  <a:schemeClr val="bg1"/>
                </a:solidFill>
              </a:rPr>
              <a:t>3</a:t>
            </a:r>
            <a:endParaRPr lang="en-US" sz="2300" dirty="0"/>
          </a:p>
        </p:txBody>
      </p:sp>
      <p:sp>
        <p:nvSpPr>
          <p:cNvPr id="12" name="text-70"/>
          <p:cNvSpPr txBox="1"/>
          <p:nvPr/>
        </p:nvSpPr>
        <p:spPr>
          <a:xfrm>
            <a:off x="6217920" y="2606040"/>
            <a:ext cx="2560320" cy="457200"/>
          </a:xfrm>
          <a:prstGeom prst="rect">
            <a:avLst/>
          </a:prstGeom>
          <a:noFill/>
          <a:ln/>
        </p:spPr>
        <p:txBody>
          <a:bodyPr wrap="square" lIns="0" tIns="0" rIns="0" bIns="0" rtlCol="0" anchor="t"/>
          <a:lstStyle/>
          <a:p>
            <a:pPr algn="ctr" indent="0" marL="0">
              <a:buNone/>
            </a:pPr>
            <a:r>
              <a:rPr lang="en-US" sz="2000" b="1" dirty="0">
                <a:solidFill>
                  <a:schemeClr val="tx2"/>
                </a:solidFill>
              </a:rPr>
              <a:t>Chọn và duyệt</a:t>
            </a:r>
            <a:endParaRPr lang="en-US" sz="2000" dirty="0"/>
          </a:p>
        </p:txBody>
      </p:sp>
      <p:sp>
        <p:nvSpPr>
          <p:cNvPr id="13" name="text-71"/>
          <p:cNvSpPr txBox="1"/>
          <p:nvPr/>
        </p:nvSpPr>
        <p:spPr>
          <a:xfrm>
            <a:off x="6217920" y="3108960"/>
            <a:ext cx="2560320" cy="1280160"/>
          </a:xfrm>
          <a:prstGeom prst="rect">
            <a:avLst/>
          </a:prstGeom>
          <a:noFill/>
          <a:ln/>
        </p:spPr>
        <p:txBody>
          <a:bodyPr wrap="square" lIns="0" tIns="0" rIns="0" bIns="0" rtlCol="0" anchor="t"/>
          <a:lstStyle/>
          <a:p>
            <a:pPr algn="ctr" indent="0" marL="0">
              <a:buNone/>
            </a:pPr>
            <a:r>
              <a:rPr lang="en-US" sz="1500" dirty="0">
                <a:solidFill>
                  <a:schemeClr val="tx1"/>
                </a:solidFill>
              </a:rPr>
              <a:t>Bạn chọn link, duyệt từng thay đổi trước khi ghi</a:t>
            </a:r>
            <a:endParaRPr lang="en-US" sz="1500" dirty="0"/>
          </a:p>
        </p:txBody>
      </p:sp>
      <p:sp>
        <p:nvSpPr>
          <p:cNvPr id="14" name="badge-72"/>
          <p:cNvSpPr/>
          <p:nvPr/>
        </p:nvSpPr>
        <p:spPr>
          <a:xfrm>
            <a:off x="9921240" y="1554480"/>
            <a:ext cx="822960" cy="8229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300" b="1" dirty="0">
                <a:solidFill>
                  <a:schemeClr val="bg1"/>
                </a:solidFill>
              </a:rPr>
              <a:t>4</a:t>
            </a:r>
            <a:endParaRPr lang="en-US" sz="2300" dirty="0"/>
          </a:p>
        </p:txBody>
      </p:sp>
      <p:sp>
        <p:nvSpPr>
          <p:cNvPr id="15" name="text-73"/>
          <p:cNvSpPr txBox="1"/>
          <p:nvPr/>
        </p:nvSpPr>
        <p:spPr>
          <a:xfrm>
            <a:off x="9052560" y="2606040"/>
            <a:ext cx="2560320" cy="457200"/>
          </a:xfrm>
          <a:prstGeom prst="rect">
            <a:avLst/>
          </a:prstGeom>
          <a:noFill/>
          <a:ln/>
        </p:spPr>
        <p:txBody>
          <a:bodyPr wrap="square" lIns="0" tIns="0" rIns="0" bIns="0" rtlCol="0" anchor="t"/>
          <a:lstStyle/>
          <a:p>
            <a:pPr algn="ctr" indent="0" marL="0">
              <a:buNone/>
            </a:pPr>
            <a:r>
              <a:rPr lang="en-US" sz="2000" b="1" dirty="0">
                <a:solidFill>
                  <a:schemeClr val="tx2"/>
                </a:solidFill>
              </a:rPr>
              <a:t>Nghiệm thu</a:t>
            </a:r>
            <a:endParaRPr lang="en-US" sz="2000" dirty="0"/>
          </a:p>
        </p:txBody>
      </p:sp>
      <p:sp>
        <p:nvSpPr>
          <p:cNvPr id="16" name="text-74"/>
          <p:cNvSpPr txBox="1"/>
          <p:nvPr/>
        </p:nvSpPr>
        <p:spPr>
          <a:xfrm>
            <a:off x="9052560" y="3108960"/>
            <a:ext cx="2560320" cy="1280160"/>
          </a:xfrm>
          <a:prstGeom prst="rect">
            <a:avLst/>
          </a:prstGeom>
          <a:noFill/>
          <a:ln/>
        </p:spPr>
        <p:txBody>
          <a:bodyPr wrap="square" lIns="0" tIns="0" rIns="0" bIns="0" rtlCol="0" anchor="t"/>
          <a:lstStyle/>
          <a:p>
            <a:pPr algn="ctr" indent="0" marL="0">
              <a:buNone/>
            </a:pPr>
            <a:r>
              <a:rPr lang="en-US" sz="1500" dirty="0">
                <a:solidFill>
                  <a:schemeClr val="tx1"/>
                </a:solidFill>
              </a:rPr>
              <a:t>Kiểm tra điểm và ẩn danh, báo cáo kết quả</a:t>
            </a:r>
            <a:endParaRPr lang="en-US" sz="1500" dirty="0"/>
          </a:p>
        </p:txBody>
      </p:sp>
      <p:sp>
        <p:nvSpPr>
          <p:cNvPr id="17" name="card-75"/>
          <p:cNvSpPr/>
          <p:nvPr/>
        </p:nvSpPr>
        <p:spPr>
          <a:xfrm>
            <a:off x="548640" y="4846320"/>
            <a:ext cx="11064240" cy="1188720"/>
          </a:xfrm>
          <a:prstGeom prst="roundRect">
            <a:avLst>
              <a:gd name="adj" fmla="val 9231"/>
            </a:avLst>
          </a:prstGeom>
          <a:solidFill>
            <a:schemeClr val="bg2"/>
          </a:solidFill>
          <a:ln/>
        </p:spPr>
      </p:sp>
      <p:sp>
        <p:nvSpPr>
          <p:cNvPr id="18" name="text-76"/>
          <p:cNvSpPr txBox="1"/>
          <p:nvPr/>
        </p:nvSpPr>
        <p:spPr>
          <a:xfrm>
            <a:off x="822960" y="4846320"/>
            <a:ext cx="10515600" cy="1188720"/>
          </a:xfrm>
          <a:prstGeom prst="rect">
            <a:avLst/>
          </a:prstGeom>
          <a:noFill/>
          <a:ln/>
        </p:spPr>
        <p:txBody>
          <a:bodyPr wrap="square" lIns="0" tIns="0" rIns="0" bIns="0" rtlCol="0" anchor="ctr"/>
          <a:lstStyle/>
          <a:p>
            <a:pPr indent="0" marL="0">
              <a:buNone/>
            </a:pPr>
            <a:r>
              <a:rPr lang="en-US" sz="1500" dirty="0">
                <a:solidFill>
                  <a:schemeClr val="tx1"/>
                </a:solidFill>
              </a:rPr>
              <a:t>Agent kết thúc sau nghiệm thu, rồi bạn đổi sang plugin lite (hướng dẫn cập nhật sau). Cài plugin xong thì nhắn </a:t>
            </a:r>
            <a:pPr indent="0" marL="0">
              <a:buNone/>
            </a:pPr>
            <a:r>
              <a:rPr lang="en-US" sz="1500" dirty="0">
                <a:solidFill>
                  <a:schemeClr val="tx1"/>
                </a:solidFill>
                <a:latin typeface="Courier New" pitchFamily="34" charset="0"/>
                <a:ea typeface="Courier New" pitchFamily="34" charset="-122"/>
                <a:cs typeface="Courier New" pitchFamily="34" charset="-120"/>
              </a:rPr>
              <a:t>tiếp tục</a:t>
            </a:r>
            <a:pPr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Bước 2. Cài plugin và bật MCP</a:t>
            </a:r>
            <a:endParaRPr lang="en-US" sz="3200" dirty="0"/>
          </a:p>
        </p:txBody>
      </p:sp>
      <p:sp>
        <p:nvSpPr>
          <p:cNvPr id="4" name="badge-77"/>
          <p:cNvSpPr/>
          <p:nvPr/>
        </p:nvSpPr>
        <p:spPr>
          <a:xfrm>
            <a:off x="548640" y="13716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78"/>
          <p:cNvSpPr txBox="1"/>
          <p:nvPr/>
        </p:nvSpPr>
        <p:spPr>
          <a:xfrm>
            <a:off x="1280160" y="1353312"/>
            <a:ext cx="4206240" cy="1280160"/>
          </a:xfrm>
          <a:prstGeom prst="rect">
            <a:avLst/>
          </a:prstGeom>
          <a:noFill/>
          <a:ln/>
        </p:spPr>
        <p:txBody>
          <a:bodyPr wrap="square" lIns="0" tIns="0" rIns="0" bIns="0" rtlCol="0" anchor="t"/>
          <a:lstStyle/>
          <a:p>
            <a:pPr indent="0" marL="0">
              <a:buNone/>
            </a:pPr>
            <a:r>
              <a:rPr lang="en-US" sz="1500" dirty="0">
                <a:solidFill>
                  <a:schemeClr val="tx1"/>
                </a:solidFill>
              </a:rPr>
              <a:t>wp-admin → Plugins → Add New → Upload Plugin, chọn </a:t>
            </a:r>
            <a:pPr indent="0" marL="0">
              <a:buNone/>
            </a:pPr>
            <a:r>
              <a:rPr lang="en-US" sz="1500" dirty="0">
                <a:solidFill>
                  <a:schemeClr val="tx1"/>
                </a:solidFill>
                <a:latin typeface="Courier New" pitchFamily="34" charset="0"/>
                <a:ea typeface="Courier New" pitchFamily="34" charset="-122"/>
                <a:cs typeface="Courier New" pitchFamily="34" charset="-120"/>
              </a:rPr>
              <a:t>vietnix-pagespeed-pro.zip</a:t>
            </a:r>
            <a:pPr indent="0" marL="0">
              <a:buNone/>
            </a:pPr>
            <a:r>
              <a:rPr lang="en-US" sz="1500" dirty="0">
                <a:solidFill>
                  <a:schemeClr val="tx1"/>
                </a:solidFill>
              </a:rPr>
              <a:t>, bấm Install Now rồi Activate.</a:t>
            </a:r>
            <a:endParaRPr lang="en-US" sz="1500" dirty="0"/>
          </a:p>
        </p:txBody>
      </p:sp>
      <p:sp>
        <p:nvSpPr>
          <p:cNvPr id="6" name="badge-79"/>
          <p:cNvSpPr/>
          <p:nvPr/>
        </p:nvSpPr>
        <p:spPr>
          <a:xfrm>
            <a:off x="548640" y="28803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80"/>
          <p:cNvSpPr txBox="1"/>
          <p:nvPr/>
        </p:nvSpPr>
        <p:spPr>
          <a:xfrm>
            <a:off x="1280160" y="2862072"/>
            <a:ext cx="4206240" cy="1280160"/>
          </a:xfrm>
          <a:prstGeom prst="rect">
            <a:avLst/>
          </a:prstGeom>
          <a:noFill/>
          <a:ln/>
        </p:spPr>
        <p:txBody>
          <a:bodyPr wrap="square" lIns="0" tIns="0" rIns="0" bIns="0" rtlCol="0" anchor="t"/>
          <a:lstStyle/>
          <a:p>
            <a:pPr indent="0" marL="0">
              <a:buNone/>
            </a:pPr>
            <a:r>
              <a:rPr lang="en-US" sz="1500" dirty="0">
                <a:solidFill>
                  <a:schemeClr val="tx1"/>
                </a:solidFill>
              </a:rPr>
              <a:t>Menu Vietnix Optimization, tab MCP: tick Bật MCP, dán API key PageSpeed, bấm Lưu MCP.</a:t>
            </a:r>
            <a:endParaRPr lang="en-US" sz="1500" dirty="0"/>
          </a:p>
        </p:txBody>
      </p:sp>
      <p:sp>
        <p:nvSpPr>
          <p:cNvPr id="8" name="badge-81"/>
          <p:cNvSpPr/>
          <p:nvPr/>
        </p:nvSpPr>
        <p:spPr>
          <a:xfrm>
            <a:off x="548640" y="43891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82"/>
          <p:cNvSpPr txBox="1"/>
          <p:nvPr/>
        </p:nvSpPr>
        <p:spPr>
          <a:xfrm>
            <a:off x="1280160" y="4370832"/>
            <a:ext cx="4206240" cy="1280160"/>
          </a:xfrm>
          <a:prstGeom prst="rect">
            <a:avLst/>
          </a:prstGeom>
          <a:noFill/>
          <a:ln/>
        </p:spPr>
        <p:txBody>
          <a:bodyPr wrap="square" lIns="0" tIns="0" rIns="0" bIns="0" rtlCol="0" anchor="t"/>
          <a:lstStyle/>
          <a:p>
            <a:pPr indent="0" marL="0">
              <a:buNone/>
            </a:pPr>
            <a:r>
              <a:rPr lang="en-US" sz="1500" dirty="0">
                <a:solidFill>
                  <a:schemeClr val="tx1"/>
                </a:solidFill>
              </a:rPr>
              <a:t>Ở mục Mẫu kết nối, bấm Copy ở mẫu của agent bạn dùng, rồi dán theo bảng.</a:t>
            </a:r>
            <a:endParaRPr lang="en-US" sz="1500" dirty="0"/>
          </a:p>
        </p:txBody>
      </p:sp>
      <p:graphicFrame>
        <p:nvGraphicFramePr>
          <p:cNvPr id="9" name="table-83"/>
          <p:cNvGraphicFramePr>
            <a:graphicFrameLocks noGrp="1"/>
          </p:cNvGraphicFramePr>
          <p:nvPr>
            <p:extLst>
              <p:ext uri="{D42A27DB-BD31-4B8C-83A1-F6EECF244321}">
                <p14:modId xmlns:p14="http://schemas.microsoft.com/office/powerpoint/2010/main" val="1579011935"/>
              </p:ext>
            </p:extLst>
          </p:nvPr>
        </p:nvGraphicFramePr>
        <p:xfrm>
          <a:off x="5943600" y="1371600"/>
          <a:ext cx="5669280" cy="914400"/>
        </p:xfrm>
        <a:graphic>
          <a:graphicData uri="http://schemas.openxmlformats.org/drawingml/2006/table">
            <a:tbl>
              <a:tblPr/>
              <a:tblGrid>
                <a:gridCol w="1737360"/>
                <a:gridCol w="3931920"/>
              </a:tblGrid>
              <a:tr h="0">
                <a:tc>
                  <a:txBody>
                    <a:bodyPr/>
                    <a:lstStyle/>
                    <a:p>
                      <a:pPr indent="0" marL="0">
                        <a:buNone/>
                      </a:pPr>
                      <a:r>
                        <a:rPr lang="en-US" sz="1400" b="1" dirty="0">
                          <a:solidFill>
                            <a:schemeClr val="bg1"/>
                          </a:solidFill>
                        </a:rPr>
                        <a:t>Agent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Dán mẫu vào đâu</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Claude Code</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Mẫu Claude Code (CLI): dán vào Terminal rồi Enter. Hoặc mẫu </a:t>
                      </a:r>
                      <a:pPr indent="0" marL="0">
                        <a:buNone/>
                      </a:pPr>
                      <a:r>
                        <a:rPr lang="en-US" sz="1400" dirty="0">
                          <a:solidFill>
                            <a:schemeClr val="tx1"/>
                          </a:solidFill>
                          <a:latin typeface="Courier New" pitchFamily="34" charset="0"/>
                          <a:ea typeface="Courier New" pitchFamily="34" charset="-122"/>
                          <a:cs typeface="Courier New" pitchFamily="34" charset="-120"/>
                        </a:rPr>
                        <a:t>.mcp.json</a:t>
                      </a:r>
                      <a:pPr indent="0" marL="0">
                        <a:buNone/>
                      </a:pPr>
                      <a:r>
                        <a:rPr lang="en-US" sz="1400" dirty="0">
                          <a:solidFill>
                            <a:schemeClr val="tx1"/>
                          </a:solidFill>
                        </a:rPr>
                        <a:t> vào file </a:t>
                      </a:r>
                      <a:pPr indent="0" marL="0">
                        <a:buNone/>
                      </a:pPr>
                      <a:r>
                        <a:rPr lang="en-US" sz="1400" dirty="0">
                          <a:solidFill>
                            <a:schemeClr val="tx1"/>
                          </a:solidFill>
                          <a:latin typeface="Courier New" pitchFamily="34" charset="0"/>
                          <a:ea typeface="Courier New" pitchFamily="34" charset="-122"/>
                          <a:cs typeface="Courier New" pitchFamily="34" charset="-120"/>
                        </a:rPr>
                        <a:t>.mcp.json</a:t>
                      </a:r>
                      <a:pPr indent="0" marL="0">
                        <a:buNone/>
                      </a:pPr>
                      <a:r>
                        <a:rPr lang="en-US" sz="1400" dirty="0">
                          <a:solidFill>
                            <a:schemeClr val="tx1"/>
                          </a:solidFill>
                        </a:rPr>
                        <a:t> của dự án</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Cursor</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Dán vào </a:t>
                      </a:r>
                      <a:pPr indent="0" marL="0">
                        <a:buNone/>
                      </a:pPr>
                      <a:r>
                        <a:rPr lang="en-US" sz="1400" dirty="0">
                          <a:solidFill>
                            <a:schemeClr val="tx1"/>
                          </a:solidFill>
                          <a:latin typeface="Courier New" pitchFamily="34" charset="0"/>
                          <a:ea typeface="Courier New" pitchFamily="34" charset="-122"/>
                          <a:cs typeface="Courier New" pitchFamily="34" charset="-120"/>
                        </a:rPr>
                        <a:t>~/.cursor/mcp.json</a:t>
                      </a:r>
                      <a:pPr indent="0" marL="0">
                        <a:buNone/>
                      </a:pPr>
                      <a:r>
                        <a:rPr lang="en-US" sz="1400" dirty="0">
                          <a:solidFill>
                            <a:schemeClr val="tx1"/>
                          </a:solidFill>
                        </a:rPr>
                        <a:t>. File bridge do agent tự copy ở lần chạy đầu</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Claude (web, Desktop)</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Settings → Connectors → Add custom connector. Điền URL và hai header theo mẫu</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Codex</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Dán vào </a:t>
                      </a:r>
                      <a:pPr indent="0" marL="0">
                        <a:buNone/>
                      </a:pPr>
                      <a:r>
                        <a:rPr lang="en-US" sz="1400" dirty="0">
                          <a:solidFill>
                            <a:schemeClr val="tx1"/>
                          </a:solidFill>
                          <a:latin typeface="Courier New" pitchFamily="34" charset="0"/>
                          <a:ea typeface="Courier New" pitchFamily="34" charset="-122"/>
                          <a:cs typeface="Courier New" pitchFamily="34" charset="-120"/>
                        </a:rPr>
                        <a:t>~/.codex/config.toml</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Bước 2. Kiểm tra kết nối</a:t>
            </a:r>
            <a:endParaRPr lang="en-US" sz="3200" dirty="0"/>
          </a:p>
        </p:txBody>
      </p:sp>
      <p:sp>
        <p:nvSpPr>
          <p:cNvPr id="4" name="card-84"/>
          <p:cNvSpPr/>
          <p:nvPr/>
        </p:nvSpPr>
        <p:spPr>
          <a:xfrm>
            <a:off x="548640" y="1325880"/>
            <a:ext cx="5394960" cy="4709160"/>
          </a:xfrm>
          <a:prstGeom prst="roundRect">
            <a:avLst>
              <a:gd name="adj" fmla="val 2330"/>
            </a:avLst>
          </a:prstGeom>
          <a:solidFill>
            <a:schemeClr val="bg2"/>
          </a:solidFill>
          <a:ln/>
        </p:spPr>
      </p:sp>
      <p:sp>
        <p:nvSpPr>
          <p:cNvPr id="5" name="text-85"/>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400" dirty="0">
                <a:solidFill>
                  <a:schemeClr val="accent5"/>
                </a:solidFill>
              </a:rPr>
              <a:t>Sau khi khởi động lại agent, nhắn:</a:t>
            </a:r>
            <a:endParaRPr lang="en-US" sz="1400" dirty="0"/>
          </a:p>
        </p:txBody>
      </p:sp>
      <p:sp>
        <p:nvSpPr>
          <p:cNvPr id="6" name="bubble-86"/>
          <p:cNvSpPr/>
          <p:nvPr/>
        </p:nvSpPr>
        <p:spPr>
          <a:xfrm>
            <a:off x="1463040" y="2057400"/>
            <a:ext cx="4206240" cy="822960"/>
          </a:xfrm>
          <a:prstGeom prst="roundRect">
            <a:avLst>
              <a:gd name="adj" fmla="val 16667"/>
            </a:avLst>
          </a:prstGeom>
          <a:solidFill>
            <a:schemeClr val="accent1"/>
          </a:solidFill>
          <a:ln>
            <a:solidFill>
              <a:schemeClr val="accent1"/>
            </a:solidFill>
          </a:ln>
        </p:spPr>
        <p:txBody>
          <a:bodyPr wrap="square" lIns="1270" tIns="2286" rIns="2286" bIns="1270" rtlCol="0" anchor="ctr"/>
          <a:lstStyle/>
          <a:p>
            <a:pPr indent="0" marL="0">
              <a:buNone/>
            </a:pPr>
            <a:r>
              <a:rPr lang="en-US" sz="1500" dirty="0">
                <a:solidFill>
                  <a:schemeClr val="bg1"/>
                </a:solidFill>
              </a:rPr>
              <a:t>MCP vietnix-pagespeed đang nối site nào?</a:t>
            </a:r>
            <a:endParaRPr lang="en-US" sz="1500" dirty="0"/>
          </a:p>
        </p:txBody>
      </p:sp>
      <p:sp>
        <p:nvSpPr>
          <p:cNvPr id="7" name="text-87"/>
          <p:cNvSpPr txBox="1"/>
          <p:nvPr/>
        </p:nvSpPr>
        <p:spPr>
          <a:xfrm>
            <a:off x="822960" y="3108960"/>
            <a:ext cx="4846320" cy="365760"/>
          </a:xfrm>
          <a:prstGeom prst="rect">
            <a:avLst/>
          </a:prstGeom>
          <a:noFill/>
          <a:ln/>
        </p:spPr>
        <p:txBody>
          <a:bodyPr wrap="square" lIns="0" tIns="0" rIns="0" bIns="0" rtlCol="0" anchor="t"/>
          <a:lstStyle/>
          <a:p>
            <a:pPr indent="0" marL="0">
              <a:buNone/>
            </a:pPr>
            <a:r>
              <a:rPr lang="en-US" sz="1400" dirty="0">
                <a:solidFill>
                  <a:schemeClr val="accent5"/>
                </a:solidFill>
              </a:rPr>
              <a:t>Agent trả lời đúng tên miền sắp làm:</a:t>
            </a:r>
            <a:endParaRPr lang="en-US" sz="1400" dirty="0"/>
          </a:p>
        </p:txBody>
      </p:sp>
      <p:sp>
        <p:nvSpPr>
          <p:cNvPr id="8" name="bubble-88"/>
          <p:cNvSpPr/>
          <p:nvPr/>
        </p:nvSpPr>
        <p:spPr>
          <a:xfrm>
            <a:off x="822960" y="3611880"/>
            <a:ext cx="4206240" cy="822960"/>
          </a:xfrm>
          <a:prstGeom prst="roundRect">
            <a:avLst>
              <a:gd name="adj" fmla="val 16667"/>
            </a:avLst>
          </a:prstGeom>
          <a:solidFill>
            <a:schemeClr val="bg1"/>
          </a:solidFill>
          <a:ln>
            <a:solidFill>
              <a:srgbClr val="D9E2EC"/>
            </a:solidFill>
          </a:ln>
        </p:spPr>
        <p:txBody>
          <a:bodyPr wrap="square" lIns="1270" tIns="2286" rIns="2286" bIns="1270" rtlCol="0" anchor="ctr"/>
          <a:lstStyle/>
          <a:p>
            <a:pPr indent="0" marL="0">
              <a:buNone/>
            </a:pPr>
            <a:r>
              <a:rPr lang="en-US" sz="1500" dirty="0">
                <a:solidFill>
                  <a:schemeClr val="tx1"/>
                </a:solidFill>
              </a:rPr>
              <a:t>Đang nối </a:t>
            </a:r>
            <a:pPr indent="0" marL="0">
              <a:buNone/>
            </a:pPr>
            <a:r>
              <a:rPr lang="en-US" sz="1500" dirty="0">
                <a:solidFill>
                  <a:schemeClr val="tx1"/>
                </a:solidFill>
                <a:latin typeface="Courier New" pitchFamily="34" charset="0"/>
                <a:ea typeface="Courier New" pitchFamily="34" charset="-122"/>
                <a:cs typeface="Courier New" pitchFamily="34" charset="-120"/>
              </a:rPr>
              <a:t>https://ten-mien.vn</a:t>
            </a:r>
            <a:endParaRPr lang="en-US" sz="1500" dirty="0"/>
          </a:p>
        </p:txBody>
      </p:sp>
      <p:sp>
        <p:nvSpPr>
          <p:cNvPr id="9" name="text-89"/>
          <p:cNvSpPr txBox="1"/>
          <p:nvPr/>
        </p:nvSpPr>
        <p:spPr>
          <a:xfrm>
            <a:off x="822960" y="4754880"/>
            <a:ext cx="4846320" cy="914400"/>
          </a:xfrm>
          <a:prstGeom prst="rect">
            <a:avLst/>
          </a:prstGeom>
          <a:noFill/>
          <a:ln/>
        </p:spPr>
        <p:txBody>
          <a:bodyPr wrap="square" lIns="0" tIns="0" rIns="0" bIns="0" rtlCol="0" anchor="t"/>
          <a:lstStyle/>
          <a:p>
            <a:pPr indent="0" marL="0">
              <a:buNone/>
            </a:pPr>
            <a:r>
              <a:rPr lang="en-US" sz="1400" dirty="0">
                <a:solidFill>
                  <a:schemeClr val="tx1"/>
                </a:solidFill>
              </a:rPr>
              <a:t>Đúng miền thì nhắn tiếp tục. Agent đo lại sau cài plugin, kiểm tra cấu hình cũ (giữ, thay hoặc gỡ) rồi hỏi bạn duyệt.</a:t>
            </a:r>
            <a:endParaRPr lang="en-US" sz="1400" dirty="0"/>
          </a:p>
        </p:txBody>
      </p:sp>
      <p:sp>
        <p:nvSpPr>
          <p:cNvPr id="10" name="card-90"/>
          <p:cNvSpPr/>
          <p:nvPr/>
        </p:nvSpPr>
        <p:spPr>
          <a:xfrm>
            <a:off x="6263640" y="1325880"/>
            <a:ext cx="5349240" cy="1188720"/>
          </a:xfrm>
          <a:prstGeom prst="roundRect">
            <a:avLst>
              <a:gd name="adj" fmla="val 9231"/>
            </a:avLst>
          </a:prstGeom>
          <a:solidFill>
            <a:schemeClr val="bg2"/>
          </a:solidFill>
          <a:ln/>
        </p:spPr>
      </p:sp>
      <p:sp>
        <p:nvSpPr>
          <p:cNvPr id="11" name="text-91"/>
          <p:cNvSpPr txBox="1"/>
          <p:nvPr/>
        </p:nvSpPr>
        <p:spPr>
          <a:xfrm>
            <a:off x="6537960" y="1463040"/>
            <a:ext cx="4846320" cy="365760"/>
          </a:xfrm>
          <a:prstGeom prst="rect">
            <a:avLst/>
          </a:prstGeom>
          <a:noFill/>
          <a:ln/>
        </p:spPr>
        <p:txBody>
          <a:bodyPr wrap="square" lIns="0" tIns="0" rIns="0" bIns="0" rtlCol="0" anchor="t"/>
          <a:lstStyle/>
          <a:p>
            <a:pPr indent="0" marL="0">
              <a:buNone/>
            </a:pPr>
            <a:r>
              <a:rPr lang="en-US" sz="1700" b="1" dirty="0">
                <a:solidFill>
                  <a:schemeClr val="tx2"/>
                </a:solidFill>
              </a:rPr>
              <a:t>Khởi động lại agent</a:t>
            </a:r>
            <a:endParaRPr lang="en-US" sz="1700" dirty="0"/>
          </a:p>
        </p:txBody>
      </p:sp>
      <p:sp>
        <p:nvSpPr>
          <p:cNvPr id="12" name="text-92"/>
          <p:cNvSpPr txBox="1"/>
          <p:nvPr/>
        </p:nvSpPr>
        <p:spPr>
          <a:xfrm>
            <a:off x="6537960" y="1856232"/>
            <a:ext cx="4846320" cy="594360"/>
          </a:xfrm>
          <a:prstGeom prst="rect">
            <a:avLst/>
          </a:prstGeom>
          <a:noFill/>
          <a:ln/>
        </p:spPr>
        <p:txBody>
          <a:bodyPr wrap="square" lIns="0" tIns="0" rIns="0" bIns="0" rtlCol="0" anchor="t"/>
          <a:lstStyle/>
          <a:p>
            <a:pPr indent="0" marL="0">
              <a:buNone/>
            </a:pPr>
            <a:r>
              <a:rPr lang="en-US" sz="1400" dirty="0">
                <a:solidFill>
                  <a:schemeClr val="tx1"/>
                </a:solidFill>
              </a:rPr>
              <a:t>Agent chỉ thấy MCP mới sau khi thoát và mở lại.</a:t>
            </a:r>
            <a:endParaRPr lang="en-US" sz="1400" dirty="0"/>
          </a:p>
        </p:txBody>
      </p:sp>
      <p:sp>
        <p:nvSpPr>
          <p:cNvPr id="13" name="card-93"/>
          <p:cNvSpPr/>
          <p:nvPr/>
        </p:nvSpPr>
        <p:spPr>
          <a:xfrm>
            <a:off x="6263640" y="2697480"/>
            <a:ext cx="5349240" cy="1188720"/>
          </a:xfrm>
          <a:prstGeom prst="roundRect">
            <a:avLst>
              <a:gd name="adj" fmla="val 9231"/>
            </a:avLst>
          </a:prstGeom>
          <a:solidFill>
            <a:schemeClr val="bg2"/>
          </a:solidFill>
          <a:ln/>
        </p:spPr>
      </p:sp>
      <p:sp>
        <p:nvSpPr>
          <p:cNvPr id="14" name="text-94"/>
          <p:cNvSpPr txBox="1"/>
          <p:nvPr/>
        </p:nvSpPr>
        <p:spPr>
          <a:xfrm>
            <a:off x="6537960" y="2834640"/>
            <a:ext cx="4846320" cy="365760"/>
          </a:xfrm>
          <a:prstGeom prst="rect">
            <a:avLst/>
          </a:prstGeom>
          <a:noFill/>
          <a:ln/>
        </p:spPr>
        <p:txBody>
          <a:bodyPr wrap="square" lIns="0" tIns="0" rIns="0" bIns="0" rtlCol="0" anchor="t"/>
          <a:lstStyle/>
          <a:p>
            <a:pPr indent="0" marL="0">
              <a:buNone/>
            </a:pPr>
            <a:r>
              <a:rPr lang="en-US" sz="1700" b="1" dirty="0">
                <a:solidFill>
                  <a:schemeClr val="tx2"/>
                </a:solidFill>
              </a:rPr>
              <a:t>Đổi sang site khác</a:t>
            </a:r>
            <a:endParaRPr lang="en-US" sz="1700" dirty="0"/>
          </a:p>
        </p:txBody>
      </p:sp>
      <p:sp>
        <p:nvSpPr>
          <p:cNvPr id="15" name="text-95"/>
          <p:cNvSpPr txBox="1"/>
          <p:nvPr/>
        </p:nvSpPr>
        <p:spPr>
          <a:xfrm>
            <a:off x="6537960" y="3227832"/>
            <a:ext cx="4846320" cy="594360"/>
          </a:xfrm>
          <a:prstGeom prst="rect">
            <a:avLst/>
          </a:prstGeom>
          <a:noFill/>
          <a:ln/>
        </p:spPr>
        <p:txBody>
          <a:bodyPr wrap="square" lIns="0" tIns="0" rIns="0" bIns="0" rtlCol="0" anchor="t"/>
          <a:lstStyle/>
          <a:p>
            <a:pPr indent="0" marL="0">
              <a:buNone/>
            </a:pPr>
            <a:r>
              <a:rPr lang="en-US" sz="1400" dirty="0">
                <a:solidFill>
                  <a:schemeClr val="tx1"/>
                </a:solidFill>
              </a:rPr>
              <a:t>Gỡ kết nối cũ rồi dán mẫu mới. Claude Code: </a:t>
            </a:r>
            <a:pPr indent="0" marL="0">
              <a:buNone/>
            </a:pPr>
            <a:r>
              <a:rPr lang="en-US" sz="1400" dirty="0">
                <a:solidFill>
                  <a:schemeClr val="tx1"/>
                </a:solidFill>
                <a:latin typeface="Courier New" pitchFamily="34" charset="0"/>
                <a:ea typeface="Courier New" pitchFamily="34" charset="-122"/>
                <a:cs typeface="Courier New" pitchFamily="34" charset="-120"/>
              </a:rPr>
              <a:t>claude mcp remove vietnix-pagespeed</a:t>
            </a:r>
            <a:pPr indent="0" marL="0">
              <a:buNone/>
            </a:pPr>
            <a:r>
              <a:rPr lang="en-US" sz="1400" dirty="0">
                <a:solidFill>
                  <a:schemeClr val="tx1"/>
                </a:solidFill>
              </a:rPr>
              <a:t>.</a:t>
            </a:r>
            <a:endParaRPr lang="en-US" sz="1400" dirty="0"/>
          </a:p>
        </p:txBody>
      </p:sp>
      <p:sp>
        <p:nvSpPr>
          <p:cNvPr id="16" name="card-96"/>
          <p:cNvSpPr/>
          <p:nvPr/>
        </p:nvSpPr>
        <p:spPr>
          <a:xfrm>
            <a:off x="6263640" y="4069080"/>
            <a:ext cx="5349240" cy="1965960"/>
          </a:xfrm>
          <a:prstGeom prst="roundRect">
            <a:avLst>
              <a:gd name="adj" fmla="val 5581"/>
            </a:avLst>
          </a:prstGeom>
          <a:solidFill>
            <a:srgbClr val="FBEBCD"/>
          </a:solidFill>
          <a:ln/>
        </p:spPr>
      </p:sp>
      <p:sp>
        <p:nvSpPr>
          <p:cNvPr id="17" name="badge-97"/>
          <p:cNvSpPr/>
          <p:nvPr/>
        </p:nvSpPr>
        <p:spPr>
          <a:xfrm>
            <a:off x="6537960" y="429768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8" name="text-98"/>
          <p:cNvSpPr txBox="1"/>
          <p:nvPr/>
        </p:nvSpPr>
        <p:spPr>
          <a:xfrm>
            <a:off x="7223760" y="4315968"/>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Giữ bí mật trang Mẫu kết nối</a:t>
            </a:r>
            <a:endParaRPr lang="en-US" sz="1700" dirty="0"/>
          </a:p>
        </p:txBody>
      </p:sp>
      <p:sp>
        <p:nvSpPr>
          <p:cNvPr id="19" name="text-99"/>
          <p:cNvSpPr txBox="1"/>
          <p:nvPr/>
        </p:nvSpPr>
        <p:spPr>
          <a:xfrm>
            <a:off x="6537960" y="4937760"/>
            <a:ext cx="4846320" cy="1005840"/>
          </a:xfrm>
          <a:prstGeom prst="rect">
            <a:avLst/>
          </a:prstGeom>
          <a:noFill/>
          <a:ln/>
        </p:spPr>
        <p:txBody>
          <a:bodyPr wrap="square" lIns="0" tIns="0" rIns="0" bIns="0" rtlCol="0" anchor="t"/>
          <a:lstStyle/>
          <a:p>
            <a:pPr indent="0" marL="0">
              <a:buNone/>
            </a:pPr>
            <a:r>
              <a:rPr lang="en-US" sz="1400" dirty="0">
                <a:solidFill>
                  <a:schemeClr val="tx1"/>
                </a:solidFill>
              </a:rPr>
              <a:t>Trang này chứa token và key thật. Không chụp, không gửi. Lỡ lộ: bấm Tạo token mới (giữ ô Bật MCP) và tạo API key mới.</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Bước 1. Gửi link</a:t>
            </a:r>
            <a:endParaRPr lang="en-US" sz="3200" dirty="0"/>
          </a:p>
        </p:txBody>
      </p:sp>
      <p:sp>
        <p:nvSpPr>
          <p:cNvPr id="4" name="text-100"/>
          <p:cNvSpPr txBox="1"/>
          <p:nvPr/>
        </p:nvSpPr>
        <p:spPr>
          <a:xfrm>
            <a:off x="548640" y="1234440"/>
            <a:ext cx="5486400" cy="365760"/>
          </a:xfrm>
          <a:prstGeom prst="rect">
            <a:avLst/>
          </a:prstGeom>
          <a:noFill/>
          <a:ln/>
        </p:spPr>
        <p:txBody>
          <a:bodyPr wrap="square" lIns="0" tIns="0" rIns="0" bIns="0" rtlCol="0" anchor="t"/>
          <a:lstStyle/>
          <a:p>
            <a:pPr indent="0" marL="0">
              <a:buNone/>
            </a:pPr>
            <a:r>
              <a:rPr lang="en-US" sz="1400" b="1" dirty="0">
                <a:solidFill>
                  <a:schemeClr val="accent1"/>
                </a:solidFill>
              </a:rPr>
              <a:t>Áp dụng cho cả hai trường hợp</a:t>
            </a:r>
            <a:endParaRPr lang="en-US" sz="1400" dirty="0"/>
          </a:p>
        </p:txBody>
      </p:sp>
      <p:sp>
        <p:nvSpPr>
          <p:cNvPr id="5" name="card-101"/>
          <p:cNvSpPr/>
          <p:nvPr/>
        </p:nvSpPr>
        <p:spPr>
          <a:xfrm>
            <a:off x="548640" y="1691640"/>
            <a:ext cx="5394960" cy="2743200"/>
          </a:xfrm>
          <a:prstGeom prst="roundRect">
            <a:avLst>
              <a:gd name="adj" fmla="val 4000"/>
            </a:avLst>
          </a:prstGeom>
          <a:solidFill>
            <a:schemeClr val="bg2"/>
          </a:solidFill>
          <a:ln/>
        </p:spPr>
      </p:sp>
      <p:sp>
        <p:nvSpPr>
          <p:cNvPr id="6" name="bubble-102"/>
          <p:cNvSpPr/>
          <p:nvPr/>
        </p:nvSpPr>
        <p:spPr>
          <a:xfrm>
            <a:off x="914400" y="2011680"/>
            <a:ext cx="4663440" cy="2103120"/>
          </a:xfrm>
          <a:prstGeom prst="roundRect">
            <a:avLst>
              <a:gd name="adj" fmla="val 6522"/>
            </a:avLst>
          </a:prstGeom>
          <a:solidFill>
            <a:schemeClr val="accent1"/>
          </a:solidFill>
          <a:ln>
            <a:solidFill>
              <a:schemeClr val="accent1"/>
            </a:solidFill>
          </a:ln>
        </p:spPr>
        <p:txBody>
          <a:bodyPr wrap="square" lIns="1270" tIns="2286" rIns="2286" bIns="1270" rtlCol="0" anchor="ctr"/>
          <a:lstStyle/>
          <a:p>
            <a:pPr indent="0" marL="0">
              <a:buNone/>
            </a:pPr>
            <a:r>
              <a:rPr lang="en-US" sz="1500" dirty="0">
                <a:solidFill>
                  <a:schemeClr val="bg1"/>
                </a:solidFill>
              </a:rPr>
              <a:t>Khảo sát (hoặc Tối ưu) các link sau:</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https://ten-mien.vn/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https://ten-mien.vn/lien-he/</a:t>
            </a:r>
            <a:endParaRPr lang="en-US" sz="1500" dirty="0"/>
          </a:p>
        </p:txBody>
      </p:sp>
      <p:sp>
        <p:nvSpPr>
          <p:cNvPr id="7" name="text-103"/>
          <p:cNvSpPr txBox="1"/>
          <p:nvPr/>
        </p:nvSpPr>
        <p:spPr>
          <a:xfrm>
            <a:off x="548640" y="4663440"/>
            <a:ext cx="5394960" cy="1280160"/>
          </a:xfrm>
          <a:prstGeom prst="rect">
            <a:avLst/>
          </a:prstGeom>
          <a:noFill/>
          <a:ln/>
        </p:spPr>
        <p:txBody>
          <a:bodyPr wrap="square" lIns="0" tIns="0" rIns="0" bIns="0" rtlCol="0" anchor="t"/>
          <a:lstStyle/>
          <a:p>
            <a:pPr indent="0" marL="0">
              <a:buNone/>
            </a:pPr>
            <a:r>
              <a:rPr lang="en-US" sz="1500" dirty="0">
                <a:solidFill>
                  <a:schemeClr val="tx1"/>
                </a:solidFill>
              </a:rPr>
              <a:t>Hoặc tự điền mục 1 (tên miền, trường hợp 1 hoặc 2) và mục 2 (mỗi dòng một URL) của </a:t>
            </a:r>
            <a:pPr indent="0" marL="0">
              <a:buNone/>
            </a:pPr>
            <a:r>
              <a:rPr lang="en-US" sz="1500" dirty="0">
                <a:solidFill>
                  <a:schemeClr val="tx1"/>
                </a:solidFill>
                <a:latin typeface="Courier New" pitchFamily="34" charset="0"/>
                <a:ea typeface="Courier New" pitchFamily="34" charset="-122"/>
                <a:cs typeface="Courier New" pitchFamily="34" charset="-120"/>
              </a:rPr>
              <a:t>Do.md</a:t>
            </a:r>
            <a:pPr indent="0" marL="0">
              <a:buNone/>
            </a:pPr>
            <a:r>
              <a:rPr lang="en-US" sz="1500" dirty="0">
                <a:solidFill>
                  <a:schemeClr val="tx1"/>
                </a:solidFill>
              </a:rPr>
              <a:t>, rồi nhắn </a:t>
            </a:r>
            <a:pPr indent="0" marL="0">
              <a:buNone/>
            </a:pPr>
            <a:r>
              <a:rPr lang="en-US" sz="1500" dirty="0">
                <a:solidFill>
                  <a:schemeClr val="tx1"/>
                </a:solidFill>
                <a:latin typeface="Courier New" pitchFamily="34" charset="0"/>
                <a:ea typeface="Courier New" pitchFamily="34" charset="-122"/>
                <a:cs typeface="Courier New" pitchFamily="34" charset="-120"/>
              </a:rPr>
              <a:t>Tối ưu các link trong Do.md</a:t>
            </a:r>
            <a:pPr indent="0" marL="0">
              <a:buNone/>
            </a:pPr>
            <a:r>
              <a:rPr lang="en-US" sz="1500" dirty="0">
                <a:solidFill>
                  <a:schemeClr val="tx1"/>
                </a:solidFill>
              </a:rPr>
              <a:t>.</a:t>
            </a:r>
            <a:endParaRPr lang="en-US" sz="1500" dirty="0"/>
          </a:p>
        </p:txBody>
      </p:sp>
      <p:sp>
        <p:nvSpPr>
          <p:cNvPr id="8" name="badge-104"/>
          <p:cNvSpPr/>
          <p:nvPr/>
        </p:nvSpPr>
        <p:spPr>
          <a:xfrm>
            <a:off x="6400800" y="1737360"/>
            <a:ext cx="502920" cy="50292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9" name="text-105"/>
          <p:cNvSpPr txBox="1"/>
          <p:nvPr/>
        </p:nvSpPr>
        <p:spPr>
          <a:xfrm>
            <a:off x="7132320" y="1691640"/>
            <a:ext cx="4480560" cy="411480"/>
          </a:xfrm>
          <a:prstGeom prst="rect">
            <a:avLst/>
          </a:prstGeom>
          <a:noFill/>
          <a:ln/>
        </p:spPr>
        <p:txBody>
          <a:bodyPr wrap="square" lIns="0" tIns="0" rIns="0" bIns="0" rtlCol="0" anchor="t"/>
          <a:lstStyle/>
          <a:p>
            <a:pPr indent="0" marL="0">
              <a:buNone/>
            </a:pPr>
            <a:r>
              <a:rPr lang="en-US" sz="1800" b="1" dirty="0">
                <a:solidFill>
                  <a:schemeClr val="tx2"/>
                </a:solidFill>
              </a:rPr>
              <a:t>Một tên miền mỗi lần</a:t>
            </a:r>
            <a:endParaRPr lang="en-US" sz="1800" dirty="0"/>
          </a:p>
        </p:txBody>
      </p:sp>
      <p:sp>
        <p:nvSpPr>
          <p:cNvPr id="10" name="text-106"/>
          <p:cNvSpPr txBox="1"/>
          <p:nvPr/>
        </p:nvSpPr>
        <p:spPr>
          <a:xfrm>
            <a:off x="7132320" y="2148840"/>
            <a:ext cx="4480560" cy="822960"/>
          </a:xfrm>
          <a:prstGeom prst="rect">
            <a:avLst/>
          </a:prstGeom>
          <a:noFill/>
          <a:ln/>
        </p:spPr>
        <p:txBody>
          <a:bodyPr wrap="square" lIns="0" tIns="0" rIns="0" bIns="0" rtlCol="0" anchor="t"/>
          <a:lstStyle/>
          <a:p>
            <a:pPr indent="0" marL="0">
              <a:buNone/>
            </a:pPr>
            <a:r>
              <a:rPr lang="en-US" sz="1500" dirty="0">
                <a:solidFill>
                  <a:schemeClr val="tx1"/>
                </a:solidFill>
              </a:rPr>
              <a:t>Link khác tên miền sẽ bị bỏ.</a:t>
            </a:r>
            <a:endParaRPr lang="en-US" sz="1500" dirty="0"/>
          </a:p>
        </p:txBody>
      </p:sp>
      <p:sp>
        <p:nvSpPr>
          <p:cNvPr id="11" name="badge-107"/>
          <p:cNvSpPr/>
          <p:nvPr/>
        </p:nvSpPr>
        <p:spPr>
          <a:xfrm>
            <a:off x="6400800" y="3200400"/>
            <a:ext cx="502920" cy="50292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2" name="text-108"/>
          <p:cNvSpPr txBox="1"/>
          <p:nvPr/>
        </p:nvSpPr>
        <p:spPr>
          <a:xfrm>
            <a:off x="7132320" y="3154680"/>
            <a:ext cx="4480560" cy="411480"/>
          </a:xfrm>
          <a:prstGeom prst="rect">
            <a:avLst/>
          </a:prstGeom>
          <a:noFill/>
          <a:ln/>
        </p:spPr>
        <p:txBody>
          <a:bodyPr wrap="square" lIns="0" tIns="0" rIns="0" bIns="0" rtlCol="0" anchor="t"/>
          <a:lstStyle/>
          <a:p>
            <a:pPr indent="0" marL="0">
              <a:buNone/>
            </a:pPr>
            <a:r>
              <a:rPr lang="en-US" sz="1800" b="1" dirty="0">
                <a:solidFill>
                  <a:schemeClr val="tx2"/>
                </a:solidFill>
              </a:rPr>
              <a:t>2 lượt PageSpeed mỗi link</a:t>
            </a:r>
            <a:endParaRPr lang="en-US" sz="1800" dirty="0"/>
          </a:p>
        </p:txBody>
      </p:sp>
      <p:sp>
        <p:nvSpPr>
          <p:cNvPr id="13" name="text-109"/>
          <p:cNvSpPr txBox="1"/>
          <p:nvPr/>
        </p:nvSpPr>
        <p:spPr>
          <a:xfrm>
            <a:off x="7132320" y="3611880"/>
            <a:ext cx="4480560" cy="822960"/>
          </a:xfrm>
          <a:prstGeom prst="rect">
            <a:avLst/>
          </a:prstGeom>
          <a:noFill/>
          <a:ln/>
        </p:spPr>
        <p:txBody>
          <a:bodyPr wrap="square" lIns="0" tIns="0" rIns="0" bIns="0" rtlCol="0" anchor="t"/>
          <a:lstStyle/>
          <a:p>
            <a:pPr indent="0" marL="0">
              <a:buNone/>
            </a:pPr>
            <a:r>
              <a:rPr lang="en-US" sz="1500" dirty="0">
                <a:solidFill>
                  <a:schemeClr val="tx1"/>
                </a:solidFill>
              </a:rPr>
              <a:t>Mobile và desktop. Quota 25.000 lượt mỗi ngày, 30 lượt mỗi phút.</a:t>
            </a:r>
            <a:endParaRPr lang="en-US" sz="1500" dirty="0"/>
          </a:p>
        </p:txBody>
      </p:sp>
      <p:sp>
        <p:nvSpPr>
          <p:cNvPr id="14" name="badge-110"/>
          <p:cNvSpPr/>
          <p:nvPr/>
        </p:nvSpPr>
        <p:spPr>
          <a:xfrm>
            <a:off x="6400800" y="4663440"/>
            <a:ext cx="502920" cy="50292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5" name="text-111"/>
          <p:cNvSpPr txBox="1"/>
          <p:nvPr/>
        </p:nvSpPr>
        <p:spPr>
          <a:xfrm>
            <a:off x="7132320" y="4617720"/>
            <a:ext cx="4480560" cy="411480"/>
          </a:xfrm>
          <a:prstGeom prst="rect">
            <a:avLst/>
          </a:prstGeom>
          <a:noFill/>
          <a:ln/>
        </p:spPr>
        <p:txBody>
          <a:bodyPr wrap="square" lIns="0" tIns="0" rIns="0" bIns="0" rtlCol="0" anchor="t"/>
          <a:lstStyle/>
          <a:p>
            <a:pPr indent="0" marL="0">
              <a:buNone/>
            </a:pPr>
            <a:r>
              <a:rPr lang="en-US" sz="1800" b="1" dirty="0">
                <a:solidFill>
                  <a:schemeClr val="tx2"/>
                </a:solidFill>
              </a:rPr>
              <a:t>Đổi sang miền khác</a:t>
            </a:r>
            <a:endParaRPr lang="en-US" sz="1800" dirty="0"/>
          </a:p>
        </p:txBody>
      </p:sp>
      <p:sp>
        <p:nvSpPr>
          <p:cNvPr id="16" name="text-112"/>
          <p:cNvSpPr txBox="1"/>
          <p:nvPr/>
        </p:nvSpPr>
        <p:spPr>
          <a:xfrm>
            <a:off x="7132320" y="5074920"/>
            <a:ext cx="4480560" cy="822960"/>
          </a:xfrm>
          <a:prstGeom prst="rect">
            <a:avLst/>
          </a:prstGeom>
          <a:noFill/>
          <a:ln/>
        </p:spPr>
        <p:txBody>
          <a:bodyPr wrap="square" lIns="0" tIns="0" rIns="0" bIns="0" rtlCol="0" anchor="t"/>
          <a:lstStyle/>
          <a:p>
            <a:pPr indent="0" marL="0">
              <a:buNone/>
            </a:pPr>
            <a:r>
              <a:rPr lang="en-US" sz="1500" dirty="0">
                <a:solidFill>
                  <a:schemeClr val="tx1"/>
                </a:solidFill>
              </a:rPr>
              <a:t>Agent ghi đè </a:t>
            </a:r>
            <a:pPr indent="0" marL="0">
              <a:buNone/>
            </a:pPr>
            <a:r>
              <a:rPr lang="en-US" sz="1500" dirty="0">
                <a:solidFill>
                  <a:schemeClr val="tx1"/>
                </a:solidFill>
                <a:latin typeface="Courier New" pitchFamily="34" charset="0"/>
                <a:ea typeface="Courier New" pitchFamily="34" charset="-122"/>
                <a:cs typeface="Courier New" pitchFamily="34" charset="-120"/>
              </a:rPr>
              <a:t>Do.md</a:t>
            </a:r>
            <a:pPr indent="0" marL="0">
              <a:buNone/>
            </a:pPr>
            <a:r>
              <a:rPr lang="en-US" sz="1500" dirty="0">
                <a:solidFill>
                  <a:schemeClr val="tx1"/>
                </a:solidFill>
              </a:rPr>
              <a:t>, giữ ô API key. Báo cáo cũ vẫn ở </a:t>
            </a:r>
            <a:pPr indent="0" marL="0">
              <a:buNone/>
            </a:pPr>
            <a:r>
              <a:rPr lang="en-US" sz="1500" dirty="0">
                <a:solidFill>
                  <a:schemeClr val="tx1"/>
                </a:solidFill>
                <a:latin typeface="Courier New" pitchFamily="34" charset="0"/>
                <a:ea typeface="Courier New" pitchFamily="34" charset="-122"/>
                <a:cs typeface="Courier New" pitchFamily="34" charset="-120"/>
              </a:rPr>
              <a:t>reports/</a:t>
            </a:r>
            <a:pPr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Bước 3. Chọn và duyệt</a:t>
            </a:r>
            <a:endParaRPr lang="en-US" sz="3200" dirty="0"/>
          </a:p>
        </p:txBody>
      </p:sp>
      <p:graphicFrame>
        <p:nvGraphicFramePr>
          <p:cNvPr id="12" name="table-113"/>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108960"/>
                <a:gridCol w="4480560"/>
                <a:gridCol w="3474720"/>
              </a:tblGrid>
              <a:tr h="0">
                <a:tc>
                  <a:txBody>
                    <a:bodyPr/>
                    <a:lstStyle/>
                    <a:p>
                      <a:pPr indent="0" marL="0">
                        <a:buNone/>
                      </a:pPr>
                      <a:r>
                        <a:rPr lang="en-US" sz="1300" b="1" dirty="0">
                          <a:solidFill>
                            <a:schemeClr val="bg1"/>
                          </a:solidFill>
                        </a:rPr>
                        <a:t>Agent hỏi</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Bạn xem gì</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Trả lời mẫu</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Link nào cần tối ưu, dòng đề xuất nào được duyệt</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Tóm tắt từng link (điểm, Load, Không cần tối ưu hoặc tiêu chí chưa đạt) và thay đổi đề xuất, gồm cả thay hoặc gỡ cấu hình cũ</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Tối ưu link 1 và 3. Duyệt dòng 1, 2, bỏ dòng 4.</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Trước mỗi lần ghi lên site: kết quả chạy thử</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Thay đổi gì, từ giá trị nào sang giá trị nào. Dòng VPI, Critical CSS, lazyload HTML áp một trang, hoặc mọi trang cùng mẫu nếu bạn chọn ghi chung. Option áp cả site: chỉ khi bạn yêu cầu</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Đồng ý ghi.</a:t>
                      </a:r>
                      <a:pPr indent="0" marL="0">
                        <a:buNone/>
                      </a:pPr>
                      <a:r>
                        <a:rPr lang="en-US" sz="1300" dirty="0">
                          <a:solidFill>
                            <a:schemeClr val="tx1"/>
                          </a:solidFill>
                        </a:rPr>
                        <a:t> hoặc </a:t>
                      </a:r>
                      <a:pPr indent="0" marL="0">
                        <a:buNone/>
                      </a:pPr>
                      <a:r>
                        <a:rPr lang="en-US" sz="1300" dirty="0">
                          <a:solidFill>
                            <a:schemeClr val="tx1"/>
                          </a:solidFill>
                          <a:latin typeface="Courier New" pitchFamily="34" charset="0"/>
                          <a:ea typeface="Courier New" pitchFamily="34" charset="-122"/>
                          <a:cs typeface="Courier New" pitchFamily="34" charset="-120"/>
                        </a:rPr>
                        <a:t>Bỏ thay đổi này.</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Thêm </a:t>
                      </a:r>
                      <a:r>
                        <a:rPr lang="en-US" sz="1300" dirty="0">
                          <a:solidFill>
                            <a:schemeClr val="tx1"/>
                          </a:solidFill>
                          <a:latin typeface="Courier New" pitchFamily="34" charset="0"/>
                          <a:ea typeface="Courier New" pitchFamily="34" charset="-122"/>
                          <a:cs typeface="Courier New" pitchFamily="34" charset="-120"/>
                        </a:rPr>
                        <a:t>jquery</a:t>
                      </a:r>
                      <a:r>
                        <a:rPr lang="en-US" sz="1300" dirty="0">
                          <a:solidFill>
                            <a:schemeClr val="tx1"/>
                          </a:solidFill>
                        </a:rPr>
                        <a:t> hoặc </a:t>
                      </a:r>
                      <a:r>
                        <a:rPr lang="en-US" sz="1300" dirty="0">
                          <a:solidFill>
                            <a:schemeClr val="tx1"/>
                          </a:solidFill>
                          <a:latin typeface="Courier New" pitchFamily="34" charset="0"/>
                          <a:ea typeface="Courier New" pitchFamily="34" charset="-122"/>
                          <a:cs typeface="Courier New" pitchFamily="34" charset="-120"/>
                        </a:rPr>
                        <a:t>wp-includes</a:t>
                      </a:r>
                      <a:r>
                        <a:rPr lang="en-US" sz="1300" dirty="0">
                          <a:solidFill>
                            <a:schemeClr val="tx1"/>
                          </a:solidFill>
                        </a:rPr>
                        <a:t> vào danh sách trì hoãn JS của plugin Vietnix</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Dễ làm hỏng menu, slider, form</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Chỉ đồng ý khi đã thử trang</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Kiểm tra lại mà chưa đạt</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Lý do chưa đạt và việc plugin còn làm được</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Làm tiếp vòng 2.</a:t>
                      </a:r>
                      <a:pPr indent="0" marL="0">
                        <a:buNone/>
                      </a:pPr>
                      <a:r>
                        <a:rPr lang="en-US" sz="1300" dirty="0">
                          <a:solidFill>
                            <a:schemeClr val="tx1"/>
                          </a:solidFill>
                        </a:rPr>
                        <a:t> hoặc </a:t>
                      </a:r>
                      <a:pPr indent="0" marL="0">
                        <a:buNone/>
                      </a:pPr>
                      <a:r>
                        <a:rPr lang="en-US" sz="1300" dirty="0">
                          <a:solidFill>
                            <a:schemeClr val="tx1"/>
                          </a:solidFill>
                          <a:latin typeface="Courier New" pitchFamily="34" charset="0"/>
                          <a:ea typeface="Courier New" pitchFamily="34" charset="-122"/>
                          <a:cs typeface="Courier New" pitchFamily="34" charset="-120"/>
                        </a:rPr>
                        <a:t>Dừng, nghiệm thu.</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Điểm, CLS hoặc giao diện tệ hơn: đề xuất rollback</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Thay đổi sẽ hoàn tác, hoặc khôi phục cấu hình trước khi tối ưu</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Đồng ý rollback.</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bl>
          </a:graphicData>
        </a:graphic>
      </p:graphicFrame>
      <p:sp>
        <p:nvSpPr>
          <p:cNvPr id="5" name="text-114"/>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i="1" dirty="0">
                <a:solidFill>
                  <a:schemeClr val="accent5"/>
                </a:solidFill>
              </a:rPr>
              <a:t>Lúc nào cũng có thể hỏi thêm, ví dụ </a:t>
            </a:r>
            <a:pPr indent="0" marL="0">
              <a:buNone/>
            </a:pPr>
            <a:r>
              <a:rPr lang="en-US" sz="1400" i="1" dirty="0">
                <a:solidFill>
                  <a:schemeClr val="accent5"/>
                </a:solidFill>
                <a:latin typeface="Courier New" pitchFamily="34" charset="0"/>
                <a:ea typeface="Courier New" pitchFamily="34" charset="-122"/>
                <a:cs typeface="Courier New" pitchFamily="34" charset="-120"/>
              </a:rPr>
              <a:t>Dòng 2 làm gì, ảnh hưởng trang nào?</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Kết quả nằm trong reports/</a:t>
            </a:r>
            <a:endParaRPr lang="en-US" sz="3200" dirty="0"/>
          </a:p>
        </p:txBody>
      </p:sp>
      <p:sp>
        <p:nvSpPr>
          <p:cNvPr id="4" name="text-115"/>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500" dirty="0">
                <a:solidFill>
                  <a:schemeClr val="accent1"/>
                </a:solidFill>
                <a:latin typeface="Courier New" pitchFamily="34" charset="0"/>
                <a:ea typeface="Courier New" pitchFamily="34" charset="-122"/>
                <a:cs typeface="Courier New" pitchFamily="34" charset="-120"/>
              </a:rPr>
              <a:t>audit-website/reports/YYYY-MM-DD-ten-mien/</a:t>
            </a:r>
            <a:endParaRPr lang="en-US" sz="1500" dirty="0"/>
          </a:p>
        </p:txBody>
      </p:sp>
      <p:graphicFrame>
        <p:nvGraphicFramePr>
          <p:cNvPr id="13" name="table-116"/>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572000"/>
                <a:gridCol w="822960"/>
                <a:gridCol w="822960"/>
                <a:gridCol w="4846320"/>
              </a:tblGrid>
              <a:tr h="0">
                <a:tc>
                  <a:txBody>
                    <a:bodyPr/>
                    <a:lstStyle/>
                    <a:p>
                      <a:pPr indent="0" marL="0">
                        <a:buNone/>
                      </a:pPr>
                      <a:r>
                        <a:rPr lang="en-US" sz="1400" b="1" dirty="0">
                          <a:solidFill>
                            <a:schemeClr val="bg1"/>
                          </a:solidFill>
                        </a:rPr>
                        <a:t>File</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TH 1</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TH 2</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Dùng để</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Báo cáo - Hiện trạng website trước khi tối ưu - ten-mien.docx</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Gửi khách</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YYYY-MM-DD-ten-mien.md</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Báo cáo kỹ thuật nội bộ</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assets/</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Ảnh PageSpeed và ảnh trang</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Báo cáo - Kết quả sau tối ưu - ten-mien.docx</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5"/>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Nghiệm thu, gửi khách</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Đề xuất bổ sung - ten-mien.md</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5"/>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Khi còn việc plugin không làm được: bạn tự làm (A), AI làm khi được duyệt (B)</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cau-hinh-truoc-toi-uu.json</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5"/>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Bản cấu hình plugin trước lần ghi đầu tiên, để khôi phục khi cần</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anh-toi-uu/, sao-luu-noi-dung/</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5"/>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rPr>
                        <a:t>✓</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Khi nén hoặc thay ảnh: ảnh đã nén, bản sao lưu trang để trả lại ảnh cũ</a:t>
                      </a:r>
                      <a:endParaRPr lang="en-US" sz="14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bl>
          </a:graphicData>
        </a:graphic>
      </p:graphicFrame>
      <p:sp>
        <p:nvSpPr>
          <p:cNvPr id="6" name="text-117"/>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400" i="1" dirty="0">
                <a:solidFill>
                  <a:schemeClr val="accent5"/>
                </a:solidFill>
              </a:rPr>
              <a:t>Bạn chỉ cần mở </a:t>
            </a:r>
            <a:pPr indent="0" marL="0">
              <a:buNone/>
            </a:pPr>
            <a:r>
              <a:rPr lang="en-US" sz="1400" i="1" dirty="0">
                <a:solidFill>
                  <a:schemeClr val="accent5"/>
                </a:solidFill>
                <a:latin typeface="Courier New" pitchFamily="34" charset="0"/>
                <a:ea typeface="Courier New" pitchFamily="34" charset="-122"/>
                <a:cs typeface="Courier New" pitchFamily="34" charset="-120"/>
              </a:rPr>
              <a:t>HUONG-DAN.md</a:t>
            </a:r>
            <a:pPr indent="0" marL="0">
              <a:buNone/>
            </a:pPr>
            <a:r>
              <a:rPr lang="en-US" sz="1400" i="1" dirty="0">
                <a:solidFill>
                  <a:schemeClr val="accent5"/>
                </a:solidFill>
              </a:rPr>
              <a:t>, </a:t>
            </a:r>
            <a:pPr indent="0" marL="0">
              <a:buNone/>
            </a:pPr>
            <a:r>
              <a:rPr lang="en-US" sz="1400" i="1" dirty="0">
                <a:solidFill>
                  <a:schemeClr val="accent5"/>
                </a:solidFill>
                <a:latin typeface="Courier New" pitchFamily="34" charset="0"/>
                <a:ea typeface="Courier New" pitchFamily="34" charset="-122"/>
                <a:cs typeface="Courier New" pitchFamily="34" charset="-120"/>
              </a:rPr>
              <a:t>Do.md</a:t>
            </a:r>
            <a:pPr indent="0" marL="0">
              <a:buNone/>
            </a:pPr>
            <a:r>
              <a:rPr lang="en-US" sz="1400" i="1" dirty="0">
                <a:solidFill>
                  <a:schemeClr val="accent5"/>
                </a:solidFill>
              </a:rPr>
              <a:t> và </a:t>
            </a:r>
            <a:pPr indent="0" marL="0">
              <a:buNone/>
            </a:pPr>
            <a:r>
              <a:rPr lang="en-US" sz="1400" i="1" dirty="0">
                <a:solidFill>
                  <a:schemeClr val="accent5"/>
                </a:solidFill>
                <a:latin typeface="Courier New" pitchFamily="34" charset="0"/>
                <a:ea typeface="Courier New" pitchFamily="34" charset="-122"/>
                <a:cs typeface="Courier New" pitchFamily="34" charset="-120"/>
              </a:rPr>
              <a:t>reports/</a:t>
            </a:r>
            <a:pPr indent="0" marL="0">
              <a:buNone/>
            </a:pPr>
            <a:r>
              <a:rPr lang="en-US" sz="1400" i="1" dirty="0">
                <a:solidFill>
                  <a:schemeClr val="accent5"/>
                </a:solidFill>
              </a:rPr>
              <a:t>. Các file còn lại agent tự dùng.</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Chụp ảnh Network cho file Word</a:t>
            </a:r>
            <a:endParaRPr lang="en-US" sz="3200" dirty="0"/>
          </a:p>
        </p:txBody>
      </p:sp>
      <p:sp>
        <p:nvSpPr>
          <p:cNvPr id="4" name="badge-118"/>
          <p:cNvSpPr/>
          <p:nvPr/>
        </p:nvSpPr>
        <p:spPr>
          <a:xfrm>
            <a:off x="548640" y="14173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119"/>
          <p:cNvSpPr txBox="1"/>
          <p:nvPr/>
        </p:nvSpPr>
        <p:spPr>
          <a:xfrm>
            <a:off x="1280160" y="1435608"/>
            <a:ext cx="4206240" cy="1097280"/>
          </a:xfrm>
          <a:prstGeom prst="rect">
            <a:avLst/>
          </a:prstGeom>
          <a:noFill/>
          <a:ln/>
        </p:spPr>
        <p:txBody>
          <a:bodyPr wrap="square" lIns="0" tIns="0" rIns="0" bIns="0" rtlCol="0" anchor="t"/>
          <a:lstStyle/>
          <a:p>
            <a:pPr indent="0" marL="0">
              <a:buNone/>
            </a:pPr>
            <a:r>
              <a:rPr lang="en-US" sz="1600" dirty="0">
                <a:solidFill>
                  <a:schemeClr val="tx1"/>
                </a:solidFill>
              </a:rPr>
              <a:t>Mở link trong Chrome, bấm F12 (Mac: ⌥⌘I), chọn tab Network.</a:t>
            </a:r>
            <a:endParaRPr lang="en-US" sz="1600" dirty="0"/>
          </a:p>
        </p:txBody>
      </p:sp>
      <p:sp>
        <p:nvSpPr>
          <p:cNvPr id="6" name="badge-120"/>
          <p:cNvSpPr/>
          <p:nvPr/>
        </p:nvSpPr>
        <p:spPr>
          <a:xfrm>
            <a:off x="548640" y="2788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121"/>
          <p:cNvSpPr txBox="1"/>
          <p:nvPr/>
        </p:nvSpPr>
        <p:spPr>
          <a:xfrm>
            <a:off x="1280160" y="2807208"/>
            <a:ext cx="4206240" cy="1097280"/>
          </a:xfrm>
          <a:prstGeom prst="rect">
            <a:avLst/>
          </a:prstGeom>
          <a:noFill/>
          <a:ln/>
        </p:spPr>
        <p:txBody>
          <a:bodyPr wrap="square" lIns="0" tIns="0" rIns="0" bIns="0" rtlCol="0" anchor="t"/>
          <a:lstStyle/>
          <a:p>
            <a:pPr indent="0" marL="0">
              <a:buNone/>
            </a:pPr>
            <a:r>
              <a:rPr lang="en-US" sz="1600" dirty="0">
                <a:solidFill>
                  <a:schemeClr val="tx1"/>
                </a:solidFill>
              </a:rPr>
              <a:t>Tải lại trang (⌘R) và chờ trang tải xong.</a:t>
            </a:r>
            <a:endParaRPr lang="en-US" sz="1600" dirty="0"/>
          </a:p>
        </p:txBody>
      </p:sp>
      <p:sp>
        <p:nvSpPr>
          <p:cNvPr id="8" name="badge-122"/>
          <p:cNvSpPr/>
          <p:nvPr/>
        </p:nvSpPr>
        <p:spPr>
          <a:xfrm>
            <a:off x="548640" y="41605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123"/>
          <p:cNvSpPr txBox="1"/>
          <p:nvPr/>
        </p:nvSpPr>
        <p:spPr>
          <a:xfrm>
            <a:off x="1280160" y="4178808"/>
            <a:ext cx="4206240" cy="1097280"/>
          </a:xfrm>
          <a:prstGeom prst="rect">
            <a:avLst/>
          </a:prstGeom>
          <a:noFill/>
          <a:ln/>
        </p:spPr>
        <p:txBody>
          <a:bodyPr wrap="square" lIns="0" tIns="0" rIns="0" bIns="0" rtlCol="0" anchor="t"/>
          <a:lstStyle/>
          <a:p>
            <a:pPr indent="0" marL="0">
              <a:buNone/>
            </a:pPr>
            <a:r>
              <a:rPr lang="en-US" sz="1600" dirty="0">
                <a:solidFill>
                  <a:schemeClr val="tx1"/>
                </a:solidFill>
              </a:rPr>
              <a:t>Chụp thanh dưới cùng có DOMContentLoaded và Load, rồi dán vào ô ảnh Network.</a:t>
            </a:r>
            <a:endParaRPr lang="en-US" sz="1600" dirty="0"/>
          </a:p>
        </p:txBody>
      </p:sp>
      <p:sp>
        <p:nvSpPr>
          <p:cNvPr id="10" name="card-124"/>
          <p:cNvSpPr/>
          <p:nvPr/>
        </p:nvSpPr>
        <p:spPr>
          <a:xfrm>
            <a:off x="5943600" y="1325880"/>
            <a:ext cx="5669280" cy="4023360"/>
          </a:xfrm>
          <a:prstGeom prst="roundRect">
            <a:avLst>
              <a:gd name="adj" fmla="val 2727"/>
            </a:avLst>
          </a:prstGeom>
          <a:solidFill>
            <a:schemeClr val="bg2"/>
          </a:solidFill>
          <a:ln/>
        </p:spPr>
      </p:sp>
      <p:sp>
        <p:nvSpPr>
          <p:cNvPr id="11" name="text-125"/>
          <p:cNvSpPr txBox="1"/>
          <p:nvPr/>
        </p:nvSpPr>
        <p:spPr>
          <a:xfrm>
            <a:off x="6217920" y="1554480"/>
            <a:ext cx="5120640" cy="365760"/>
          </a:xfrm>
          <a:prstGeom prst="rect">
            <a:avLst/>
          </a:prstGeom>
          <a:noFill/>
          <a:ln/>
        </p:spPr>
        <p:txBody>
          <a:bodyPr wrap="square" lIns="0" tIns="0" rIns="0" bIns="0" rtlCol="0" anchor="t"/>
          <a:lstStyle/>
          <a:p>
            <a:pPr indent="0" marL="0">
              <a:buNone/>
            </a:pPr>
            <a:r>
              <a:rPr lang="en-US" sz="1400" b="1" dirty="0">
                <a:solidFill>
                  <a:schemeClr val="accent5"/>
                </a:solidFill>
              </a:rPr>
              <a:t>Ví dụ thanh cần chụp</a:t>
            </a:r>
            <a:endParaRPr lang="en-US" sz="1400" dirty="0"/>
          </a:p>
        </p:txBody>
      </p:sp>
      <p:sp>
        <p:nvSpPr>
          <p:cNvPr id="12" name="devtools-126"/>
          <p:cNvSpPr/>
          <p:nvPr/>
        </p:nvSpPr>
        <p:spPr>
          <a:xfrm>
            <a:off x="6217920" y="2148840"/>
            <a:ext cx="5120640" cy="1828800"/>
          </a:xfrm>
          <a:prstGeom prst="rect">
            <a:avLst/>
          </a:prstGeom>
          <a:solidFill>
            <a:schemeClr val="bg1"/>
          </a:solidFill>
          <a:ln w="12700">
            <a:solidFill>
              <a:srgbClr val="C9D3DD"/>
            </a:solidFill>
            <a:prstDash val="solid"/>
          </a:ln>
        </p:spPr>
      </p:sp>
      <p:sp>
        <p:nvSpPr>
          <p:cNvPr id="13" name="text-127"/>
          <p:cNvSpPr txBox="1"/>
          <p:nvPr/>
        </p:nvSpPr>
        <p:spPr>
          <a:xfrm>
            <a:off x="6355080" y="2240280"/>
            <a:ext cx="4846320" cy="32004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Name          Status    Type      Size</a:t>
            </a:r>
            <a:endParaRPr lang="en-US" sz="1100" dirty="0"/>
          </a:p>
        </p:txBody>
      </p:sp>
      <p:sp>
        <p:nvSpPr>
          <p:cNvPr id="14" name="row-128"/>
          <p:cNvSpPr/>
          <p:nvPr/>
        </p:nvSpPr>
        <p:spPr>
          <a:xfrm>
            <a:off x="6355080" y="2697480"/>
            <a:ext cx="4846320" cy="128016"/>
          </a:xfrm>
          <a:prstGeom prst="rect">
            <a:avLst/>
          </a:prstGeom>
          <a:solidFill>
            <a:srgbClr val="E3E9EF"/>
          </a:solidFill>
          <a:ln w="12700">
            <a:solidFill>
              <a:srgbClr val="E3E9EF"/>
            </a:solidFill>
            <a:prstDash val="solid"/>
          </a:ln>
        </p:spPr>
      </p:sp>
      <p:sp>
        <p:nvSpPr>
          <p:cNvPr id="15" name="row-129"/>
          <p:cNvSpPr/>
          <p:nvPr/>
        </p:nvSpPr>
        <p:spPr>
          <a:xfrm>
            <a:off x="6355080" y="2990088"/>
            <a:ext cx="3749040" cy="128016"/>
          </a:xfrm>
          <a:prstGeom prst="rect">
            <a:avLst/>
          </a:prstGeom>
          <a:solidFill>
            <a:srgbClr val="E3E9EF"/>
          </a:solidFill>
          <a:ln w="12700">
            <a:solidFill>
              <a:srgbClr val="E3E9EF"/>
            </a:solidFill>
            <a:prstDash val="solid"/>
          </a:ln>
        </p:spPr>
      </p:sp>
      <p:sp>
        <p:nvSpPr>
          <p:cNvPr id="16" name="row-130"/>
          <p:cNvSpPr/>
          <p:nvPr/>
        </p:nvSpPr>
        <p:spPr>
          <a:xfrm>
            <a:off x="6355080" y="3282696"/>
            <a:ext cx="2651760" cy="128016"/>
          </a:xfrm>
          <a:prstGeom prst="rect">
            <a:avLst/>
          </a:prstGeom>
          <a:solidFill>
            <a:srgbClr val="E3E9EF"/>
          </a:solidFill>
          <a:ln w="12700">
            <a:solidFill>
              <a:srgbClr val="E3E9EF"/>
            </a:solidFill>
            <a:prstDash val="solid"/>
          </a:ln>
        </p:spPr>
      </p:sp>
      <p:sp>
        <p:nvSpPr>
          <p:cNvPr id="17" name="statusbar-131"/>
          <p:cNvSpPr/>
          <p:nvPr/>
        </p:nvSpPr>
        <p:spPr>
          <a:xfrm>
            <a:off x="6217920" y="3611880"/>
            <a:ext cx="5120640" cy="365760"/>
          </a:xfrm>
          <a:prstGeom prst="rect">
            <a:avLst/>
          </a:prstGeom>
          <a:solidFill>
            <a:srgbClr val="F1F3F4"/>
          </a:solidFill>
          <a:ln w="12700">
            <a:solidFill>
              <a:srgbClr val="C9D3DD"/>
            </a:solidFill>
            <a:prstDash val="solid"/>
          </a:ln>
        </p:spPr>
      </p:sp>
      <p:sp>
        <p:nvSpPr>
          <p:cNvPr id="18" name="text-132"/>
          <p:cNvSpPr txBox="1"/>
          <p:nvPr/>
        </p:nvSpPr>
        <p:spPr>
          <a:xfrm>
            <a:off x="6355080" y="3611880"/>
            <a:ext cx="4937760" cy="365760"/>
          </a:xfrm>
          <a:prstGeom prst="rect">
            <a:avLst/>
          </a:prstGeom>
          <a:noFill/>
          <a:ln/>
        </p:spPr>
        <p:txBody>
          <a:bodyPr wrap="square" lIns="0" tIns="0" rIns="0" bIns="0" rtlCol="0" anchor="ctr"/>
          <a:lstStyle/>
          <a:p>
            <a:pPr indent="0" marL="0">
              <a:buNone/>
            </a:pPr>
            <a:r>
              <a:rPr lang="en-US" sz="1200" dirty="0">
                <a:solidFill>
                  <a:schemeClr val="accent5"/>
                </a:solidFill>
              </a:rPr>
              <a:t>24 requests │ </a:t>
            </a:r>
            <a:pPr indent="0" marL="0">
              <a:buNone/>
            </a:pPr>
            <a:r>
              <a:rPr lang="en-US" sz="1200" b="1" dirty="0">
                <a:solidFill>
                  <a:srgbClr val="1A73E8"/>
                </a:solidFill>
              </a:rPr>
              <a:t>DOMContentLoaded: 0.9 s</a:t>
            </a:r>
            <a:pPr indent="0" marL="0">
              <a:buNone/>
            </a:pPr>
            <a:r>
              <a:rPr lang="en-US" sz="1200" dirty="0">
                <a:solidFill>
                  <a:schemeClr val="accent5"/>
                </a:solidFill>
              </a:rPr>
              <a:t> │ </a:t>
            </a:r>
            <a:pPr indent="0" marL="0">
              <a:buNone/>
            </a:pPr>
            <a:r>
              <a:rPr lang="en-US" sz="1200" b="1" dirty="0">
                <a:solidFill>
                  <a:srgbClr val="D93025"/>
                </a:solidFill>
              </a:rPr>
              <a:t>Load: 1.8 s</a:t>
            </a:r>
            <a:endParaRPr lang="en-US" sz="1200" dirty="0"/>
          </a:p>
        </p:txBody>
      </p:sp>
      <p:sp>
        <p:nvSpPr>
          <p:cNvPr id="19" name="text-133"/>
          <p:cNvSpPr txBox="1"/>
          <p:nvPr/>
        </p:nvSpPr>
        <p:spPr>
          <a:xfrm>
            <a:off x="6217920" y="4251960"/>
            <a:ext cx="5120640" cy="822960"/>
          </a:xfrm>
          <a:prstGeom prst="rect">
            <a:avLst/>
          </a:prstGeom>
          <a:noFill/>
          <a:ln/>
        </p:spPr>
        <p:txBody>
          <a:bodyPr wrap="square" lIns="0" tIns="0" rIns="0" bIns="0" rtlCol="0" anchor="t"/>
          <a:lstStyle/>
          <a:p>
            <a:pPr indent="0" marL="0">
              <a:buNone/>
            </a:pPr>
            <a:r>
              <a:rPr lang="en-US" sz="1400" dirty="0">
                <a:solidFill>
                  <a:schemeClr val="tx1"/>
                </a:solidFill>
              </a:rPr>
              <a:t>Số trong hình chỉ là ví dụ. Trường hợp 2 dán vào cả hai file Word.</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Tiêu chí ĐẠT</a:t>
            </a:r>
            <a:endParaRPr lang="en-US" sz="3200" dirty="0"/>
          </a:p>
        </p:txBody>
      </p:sp>
      <p:sp>
        <p:nvSpPr>
          <p:cNvPr id="4" name="card-134"/>
          <p:cNvSpPr/>
          <p:nvPr/>
        </p:nvSpPr>
        <p:spPr>
          <a:xfrm>
            <a:off x="548640" y="1371600"/>
            <a:ext cx="2560320" cy="3383280"/>
          </a:xfrm>
          <a:prstGeom prst="roundRect">
            <a:avLst>
              <a:gd name="adj" fmla="val 4286"/>
            </a:avLst>
          </a:prstGeom>
          <a:solidFill>
            <a:schemeClr val="bg2"/>
          </a:solidFill>
          <a:ln/>
        </p:spPr>
      </p:sp>
      <p:sp>
        <p:nvSpPr>
          <p:cNvPr id="5" name="text-135"/>
          <p:cNvSpPr txBox="1"/>
          <p:nvPr/>
        </p:nvSpPr>
        <p:spPr>
          <a:xfrm>
            <a:off x="777240" y="1691640"/>
            <a:ext cx="2103120" cy="822960"/>
          </a:xfrm>
          <a:prstGeom prst="rect">
            <a:avLst/>
          </a:prstGeom>
          <a:noFill/>
          <a:ln/>
        </p:spPr>
        <p:txBody>
          <a:bodyPr wrap="square" lIns="0" tIns="0" rIns="0" bIns="0" rtlCol="0" anchor="ctr"/>
          <a:lstStyle/>
          <a:p>
            <a:pPr indent="0" marL="0">
              <a:buNone/>
            </a:pPr>
            <a:r>
              <a:rPr lang="en-US" sz="2200" b="1" dirty="0">
                <a:solidFill>
                  <a:schemeClr val="accent1"/>
                </a:solidFill>
              </a:rPr>
              <a:t>≤ 2 s · ≤ 3 s</a:t>
            </a:r>
            <a:endParaRPr lang="en-US" sz="2200" dirty="0"/>
          </a:p>
        </p:txBody>
      </p:sp>
      <p:sp>
        <p:nvSpPr>
          <p:cNvPr id="6" name="text-136"/>
          <p:cNvSpPr txBox="1"/>
          <p:nvPr/>
        </p:nvSpPr>
        <p:spPr>
          <a:xfrm>
            <a:off x="777240" y="2697480"/>
            <a:ext cx="2103120" cy="640080"/>
          </a:xfrm>
          <a:prstGeom prst="rect">
            <a:avLst/>
          </a:prstGeom>
          <a:noFill/>
          <a:ln/>
        </p:spPr>
        <p:txBody>
          <a:bodyPr wrap="square" lIns="0" tIns="0" rIns="0" bIns="0" rtlCol="0" anchor="t"/>
          <a:lstStyle/>
          <a:p>
            <a:pPr indent="0" marL="0">
              <a:buNone/>
            </a:pPr>
            <a:r>
              <a:rPr lang="en-US" sz="1700" b="1" dirty="0">
                <a:solidFill>
                  <a:schemeClr val="tx2"/>
                </a:solidFill>
              </a:rPr>
              <a:t>Tốc độ load</a:t>
            </a:r>
            <a:endParaRPr lang="en-US" sz="1700" dirty="0"/>
          </a:p>
        </p:txBody>
      </p:sp>
      <p:sp>
        <p:nvSpPr>
          <p:cNvPr id="7" name="text-137"/>
          <p:cNvSpPr txBox="1"/>
          <p:nvPr/>
        </p:nvSpPr>
        <p:spPr>
          <a:xfrm>
            <a:off x="777240" y="3383280"/>
            <a:ext cx="2103120" cy="1280160"/>
          </a:xfrm>
          <a:prstGeom prst="rect">
            <a:avLst/>
          </a:prstGeom>
          <a:noFill/>
          <a:ln/>
        </p:spPr>
        <p:txBody>
          <a:bodyPr wrap="square" lIns="0" tIns="0" rIns="0" bIns="0" rtlCol="0" anchor="t"/>
          <a:lstStyle/>
          <a:p>
            <a:pPr indent="0" marL="0">
              <a:buNone/>
            </a:pPr>
            <a:r>
              <a:rPr lang="en-US" sz="1400" dirty="0">
                <a:solidFill>
                  <a:schemeClr val="tx1"/>
                </a:solidFill>
              </a:rPr>
              <a:t>Desktop ≤ 2 giây, Mobile ≤ 3 giây</a:t>
            </a:r>
            <a:endParaRPr lang="en-US" sz="1400" dirty="0"/>
          </a:p>
        </p:txBody>
      </p:sp>
      <p:sp>
        <p:nvSpPr>
          <p:cNvPr id="8" name="card-138"/>
          <p:cNvSpPr/>
          <p:nvPr/>
        </p:nvSpPr>
        <p:spPr>
          <a:xfrm>
            <a:off x="3383280" y="1371600"/>
            <a:ext cx="2560320" cy="3383280"/>
          </a:xfrm>
          <a:prstGeom prst="roundRect">
            <a:avLst>
              <a:gd name="adj" fmla="val 4286"/>
            </a:avLst>
          </a:prstGeom>
          <a:solidFill>
            <a:schemeClr val="bg2"/>
          </a:solidFill>
          <a:ln/>
        </p:spPr>
      </p:sp>
      <p:sp>
        <p:nvSpPr>
          <p:cNvPr id="9" name="text-139"/>
          <p:cNvSpPr txBox="1"/>
          <p:nvPr/>
        </p:nvSpPr>
        <p:spPr>
          <a:xfrm>
            <a:off x="3611880" y="1691640"/>
            <a:ext cx="2103120" cy="822960"/>
          </a:xfrm>
          <a:prstGeom prst="rect">
            <a:avLst/>
          </a:prstGeom>
          <a:noFill/>
          <a:ln/>
        </p:spPr>
        <p:txBody>
          <a:bodyPr wrap="square" lIns="0" tIns="0" rIns="0" bIns="0" rtlCol="0" anchor="ctr"/>
          <a:lstStyle/>
          <a:p>
            <a:pPr indent="0" marL="0">
              <a:buNone/>
            </a:pPr>
            <a:r>
              <a:rPr lang="en-US" sz="2200" b="1" dirty="0">
                <a:solidFill>
                  <a:schemeClr val="accent1"/>
                </a:solidFill>
              </a:rPr>
              <a:t>Có cache</a:t>
            </a:r>
            <a:endParaRPr lang="en-US" sz="2200" dirty="0"/>
          </a:p>
        </p:txBody>
      </p:sp>
      <p:sp>
        <p:nvSpPr>
          <p:cNvPr id="10" name="text-140"/>
          <p:cNvSpPr txBox="1"/>
          <p:nvPr/>
        </p:nvSpPr>
        <p:spPr>
          <a:xfrm>
            <a:off x="3611880" y="2697480"/>
            <a:ext cx="2103120" cy="640080"/>
          </a:xfrm>
          <a:prstGeom prst="rect">
            <a:avLst/>
          </a:prstGeom>
          <a:noFill/>
          <a:ln/>
        </p:spPr>
        <p:txBody>
          <a:bodyPr wrap="square" lIns="0" tIns="0" rIns="0" bIns="0" rtlCol="0" anchor="t"/>
          <a:lstStyle/>
          <a:p>
            <a:pPr indent="0" marL="0">
              <a:buNone/>
            </a:pPr>
            <a:r>
              <a:rPr lang="en-US" sz="1700" b="1" dirty="0">
                <a:solidFill>
                  <a:schemeClr val="tx2"/>
                </a:solidFill>
              </a:rPr>
              <a:t>Cache</a:t>
            </a:r>
            <a:endParaRPr lang="en-US" sz="1700" dirty="0"/>
          </a:p>
        </p:txBody>
      </p:sp>
      <p:sp>
        <p:nvSpPr>
          <p:cNvPr id="11" name="text-141"/>
          <p:cNvSpPr txBox="1"/>
          <p:nvPr/>
        </p:nvSpPr>
        <p:spPr>
          <a:xfrm>
            <a:off x="3611880" y="3383280"/>
            <a:ext cx="2103120" cy="1280160"/>
          </a:xfrm>
          <a:prstGeom prst="rect">
            <a:avLst/>
          </a:prstGeom>
          <a:noFill/>
          <a:ln/>
        </p:spPr>
        <p:txBody>
          <a:bodyPr wrap="square" lIns="0" tIns="0" rIns="0" bIns="0" rtlCol="0" anchor="t"/>
          <a:lstStyle/>
          <a:p>
            <a:pPr indent="0" marL="0">
              <a:buNone/>
            </a:pPr>
            <a:r>
              <a:rPr lang="en-US" sz="1400" dirty="0">
                <a:solidFill>
                  <a:schemeClr val="tx1"/>
                </a:solidFill>
              </a:rPr>
              <a:t>Trang trả về từ cache</a:t>
            </a:r>
            <a:endParaRPr lang="en-US" sz="1400" dirty="0"/>
          </a:p>
        </p:txBody>
      </p:sp>
      <p:sp>
        <p:nvSpPr>
          <p:cNvPr id="12" name="card-142"/>
          <p:cNvSpPr/>
          <p:nvPr/>
        </p:nvSpPr>
        <p:spPr>
          <a:xfrm>
            <a:off x="6217920" y="1371600"/>
            <a:ext cx="2560320" cy="3383280"/>
          </a:xfrm>
          <a:prstGeom prst="roundRect">
            <a:avLst>
              <a:gd name="adj" fmla="val 4286"/>
            </a:avLst>
          </a:prstGeom>
          <a:solidFill>
            <a:schemeClr val="bg2"/>
          </a:solidFill>
          <a:ln/>
        </p:spPr>
      </p:sp>
      <p:sp>
        <p:nvSpPr>
          <p:cNvPr id="13" name="text-143"/>
          <p:cNvSpPr txBox="1"/>
          <p:nvPr/>
        </p:nvSpPr>
        <p:spPr>
          <a:xfrm>
            <a:off x="6446520" y="1691640"/>
            <a:ext cx="2103120" cy="822960"/>
          </a:xfrm>
          <a:prstGeom prst="rect">
            <a:avLst/>
          </a:prstGeom>
          <a:noFill/>
          <a:ln/>
        </p:spPr>
        <p:txBody>
          <a:bodyPr wrap="square" lIns="0" tIns="0" rIns="0" bIns="0" rtlCol="0" anchor="ctr"/>
          <a:lstStyle/>
          <a:p>
            <a:pPr indent="0" marL="0">
              <a:buNone/>
            </a:pPr>
            <a:r>
              <a:rPr lang="en-US" sz="2200" b="1" dirty="0">
                <a:solidFill>
                  <a:schemeClr val="accent1"/>
                </a:solidFill>
              </a:rPr>
              <a:t>Hiện ngay</a:t>
            </a:r>
            <a:endParaRPr lang="en-US" sz="2200" dirty="0"/>
          </a:p>
        </p:txBody>
      </p:sp>
      <p:sp>
        <p:nvSpPr>
          <p:cNvPr id="14" name="text-144"/>
          <p:cNvSpPr txBox="1"/>
          <p:nvPr/>
        </p:nvSpPr>
        <p:spPr>
          <a:xfrm>
            <a:off x="6446520" y="2697480"/>
            <a:ext cx="2103120" cy="640080"/>
          </a:xfrm>
          <a:prstGeom prst="rect">
            <a:avLst/>
          </a:prstGeom>
          <a:noFill/>
          <a:ln/>
        </p:spPr>
        <p:txBody>
          <a:bodyPr wrap="square" lIns="0" tIns="0" rIns="0" bIns="0" rtlCol="0" anchor="t"/>
          <a:lstStyle/>
          <a:p>
            <a:pPr indent="0" marL="0">
              <a:buNone/>
            </a:pPr>
            <a:r>
              <a:rPr lang="en-US" sz="1700" b="1" dirty="0">
                <a:solidFill>
                  <a:schemeClr val="tx2"/>
                </a:solidFill>
              </a:rPr>
              <a:t>Giật ảnh do tải chậm</a:t>
            </a:r>
            <a:endParaRPr lang="en-US" sz="1700" dirty="0"/>
          </a:p>
        </p:txBody>
      </p:sp>
      <p:sp>
        <p:nvSpPr>
          <p:cNvPr id="15" name="text-145"/>
          <p:cNvSpPr txBox="1"/>
          <p:nvPr/>
        </p:nvSpPr>
        <p:spPr>
          <a:xfrm>
            <a:off x="6446520" y="3383280"/>
            <a:ext cx="2103120" cy="1280160"/>
          </a:xfrm>
          <a:prstGeom prst="rect">
            <a:avLst/>
          </a:prstGeom>
          <a:noFill/>
          <a:ln/>
        </p:spPr>
        <p:txBody>
          <a:bodyPr wrap="square" lIns="0" tIns="0" rIns="0" bIns="0" rtlCol="0" anchor="t"/>
          <a:lstStyle/>
          <a:p>
            <a:pPr indent="0" marL="0">
              <a:buNone/>
            </a:pPr>
            <a:r>
              <a:rPr lang="en-US" sz="1400" dirty="0">
                <a:solidFill>
                  <a:schemeClr val="tx1"/>
                </a:solidFill>
              </a:rPr>
              <a:t>Ảnh màn hình đầu hiện ngay khi tải, không chờ vài giây</a:t>
            </a:r>
            <a:endParaRPr lang="en-US" sz="1400" dirty="0"/>
          </a:p>
        </p:txBody>
      </p:sp>
      <p:sp>
        <p:nvSpPr>
          <p:cNvPr id="16" name="card-146"/>
          <p:cNvSpPr/>
          <p:nvPr/>
        </p:nvSpPr>
        <p:spPr>
          <a:xfrm>
            <a:off x="9052560" y="1371600"/>
            <a:ext cx="2560320" cy="3383280"/>
          </a:xfrm>
          <a:prstGeom prst="roundRect">
            <a:avLst>
              <a:gd name="adj" fmla="val 4286"/>
            </a:avLst>
          </a:prstGeom>
          <a:solidFill>
            <a:schemeClr val="bg2"/>
          </a:solidFill>
          <a:ln/>
        </p:spPr>
      </p:sp>
      <p:sp>
        <p:nvSpPr>
          <p:cNvPr id="17" name="text-147"/>
          <p:cNvSpPr txBox="1"/>
          <p:nvPr/>
        </p:nvSpPr>
        <p:spPr>
          <a:xfrm>
            <a:off x="9281160" y="1691640"/>
            <a:ext cx="2103120" cy="822960"/>
          </a:xfrm>
          <a:prstGeom prst="rect">
            <a:avLst/>
          </a:prstGeom>
          <a:noFill/>
          <a:ln/>
        </p:spPr>
        <p:txBody>
          <a:bodyPr wrap="square" lIns="0" tIns="0" rIns="0" bIns="0" rtlCol="0" anchor="ctr"/>
          <a:lstStyle/>
          <a:p>
            <a:pPr indent="0" marL="0">
              <a:buNone/>
            </a:pPr>
            <a:r>
              <a:rPr lang="en-US" sz="2200" b="1" dirty="0">
                <a:solidFill>
                  <a:schemeClr val="accent1"/>
                </a:solidFill>
              </a:rPr>
              <a:t>Ít ảnh hưởng</a:t>
            </a:r>
            <a:endParaRPr lang="en-US" sz="2200" dirty="0"/>
          </a:p>
        </p:txBody>
      </p:sp>
      <p:sp>
        <p:nvSpPr>
          <p:cNvPr id="18" name="text-148"/>
          <p:cNvSpPr txBox="1"/>
          <p:nvPr/>
        </p:nvSpPr>
        <p:spPr>
          <a:xfrm>
            <a:off x="9281160" y="2697480"/>
            <a:ext cx="2103120" cy="640080"/>
          </a:xfrm>
          <a:prstGeom prst="rect">
            <a:avLst/>
          </a:prstGeom>
          <a:noFill/>
          <a:ln/>
        </p:spPr>
        <p:txBody>
          <a:bodyPr wrap="square" lIns="0" tIns="0" rIns="0" bIns="0" rtlCol="0" anchor="t"/>
          <a:lstStyle/>
          <a:p>
            <a:pPr indent="0" marL="0">
              <a:buNone/>
            </a:pPr>
            <a:r>
              <a:rPr lang="en-US" sz="1700" b="1" dirty="0">
                <a:solidFill>
                  <a:schemeClr val="tx2"/>
                </a:solidFill>
              </a:rPr>
              <a:t>Bên thứ ba</a:t>
            </a:r>
            <a:endParaRPr lang="en-US" sz="1700" dirty="0"/>
          </a:p>
        </p:txBody>
      </p:sp>
      <p:sp>
        <p:nvSpPr>
          <p:cNvPr id="19" name="text-149"/>
          <p:cNvSpPr txBox="1"/>
          <p:nvPr/>
        </p:nvSpPr>
        <p:spPr>
          <a:xfrm>
            <a:off x="9281160" y="3383280"/>
            <a:ext cx="2103120" cy="1280160"/>
          </a:xfrm>
          <a:prstGeom prst="rect">
            <a:avLst/>
          </a:prstGeom>
          <a:noFill/>
          <a:ln/>
        </p:spPr>
        <p:txBody>
          <a:bodyPr wrap="square" lIns="0" tIns="0" rIns="0" bIns="0" rtlCol="0" anchor="t"/>
          <a:lstStyle/>
          <a:p>
            <a:pPr indent="0" marL="0">
              <a:buNone/>
            </a:pPr>
            <a:r>
              <a:rPr lang="en-US" sz="1400" dirty="0">
                <a:solidFill>
                  <a:schemeClr val="tx1"/>
                </a:solidFill>
              </a:rPr>
              <a:t>Script bên ngoài không làm chậm đáng kể</a:t>
            </a:r>
            <a:endParaRPr lang="en-US" sz="1400" dirty="0"/>
          </a:p>
        </p:txBody>
      </p:sp>
      <p:sp>
        <p:nvSpPr>
          <p:cNvPr id="20" name="card-150"/>
          <p:cNvSpPr/>
          <p:nvPr/>
        </p:nvSpPr>
        <p:spPr>
          <a:xfrm>
            <a:off x="548640" y="5029200"/>
            <a:ext cx="11064240" cy="1005840"/>
          </a:xfrm>
          <a:prstGeom prst="roundRect">
            <a:avLst>
              <a:gd name="adj" fmla="val 10909"/>
            </a:avLst>
          </a:prstGeom>
          <a:solidFill>
            <a:srgbClr val="DDF0E6"/>
          </a:solidFill>
          <a:ln/>
        </p:spPr>
      </p:sp>
      <p:sp>
        <p:nvSpPr>
          <p:cNvPr id="21" name="badge-151"/>
          <p:cNvSpPr/>
          <p:nvPr/>
        </p:nvSpPr>
        <p:spPr>
          <a:xfrm>
            <a:off x="822960" y="5257800"/>
            <a:ext cx="548640" cy="54864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2" name="text-152"/>
          <p:cNvSpPr txBox="1"/>
          <p:nvPr/>
        </p:nvSpPr>
        <p:spPr>
          <a:xfrm>
            <a:off x="1600200" y="5029200"/>
            <a:ext cx="9784080" cy="1005840"/>
          </a:xfrm>
          <a:prstGeom prst="rect">
            <a:avLst/>
          </a:prstGeom>
          <a:noFill/>
          <a:ln/>
        </p:spPr>
        <p:txBody>
          <a:bodyPr wrap="square" lIns="0" tIns="0" rIns="0" bIns="0" rtlCol="0" anchor="ctr"/>
          <a:lstStyle/>
          <a:p>
            <a:pPr indent="0" marL="0">
              <a:buNone/>
            </a:pPr>
            <a:r>
              <a:rPr lang="en-US" sz="1600" dirty="0">
                <a:solidFill>
                  <a:schemeClr val="tx1"/>
                </a:solidFill>
              </a:rPr>
              <a:t>Điểm PageSpeed ≥ 90. Đạt hết: ghi Không cần tối ưu. Chưa đạt: chỉ tối ưu tiêu chí đó.</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Plugin không làm những việc này</a:t>
            </a:r>
            <a:endParaRPr lang="en-US" sz="3200" dirty="0"/>
          </a:p>
        </p:txBody>
      </p:sp>
      <p:sp>
        <p:nvSpPr>
          <p:cNvPr id="4" name="card-153"/>
          <p:cNvSpPr/>
          <p:nvPr/>
        </p:nvSpPr>
        <p:spPr>
          <a:xfrm>
            <a:off x="548640" y="1371600"/>
            <a:ext cx="5394960" cy="1645920"/>
          </a:xfrm>
          <a:prstGeom prst="roundRect">
            <a:avLst>
              <a:gd name="adj" fmla="val 6667"/>
            </a:avLst>
          </a:prstGeom>
          <a:solidFill>
            <a:schemeClr val="bg2"/>
          </a:solidFill>
          <a:ln/>
        </p:spPr>
      </p:sp>
      <p:sp>
        <p:nvSpPr>
          <p:cNvPr id="5" name="badge-154"/>
          <p:cNvSpPr/>
          <p:nvPr/>
        </p:nvSpPr>
        <p:spPr>
          <a:xfrm>
            <a:off x="822960" y="1645920"/>
            <a:ext cx="548640" cy="54864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6" name="text-155"/>
          <p:cNvSpPr txBox="1"/>
          <p:nvPr/>
        </p:nvSpPr>
        <p:spPr>
          <a:xfrm>
            <a:off x="1600200" y="164592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File và giao diện</a:t>
            </a:r>
            <a:endParaRPr lang="en-US" sz="1800" dirty="0"/>
          </a:p>
        </p:txBody>
      </p:sp>
      <p:sp>
        <p:nvSpPr>
          <p:cNvPr id="7" name="text-156"/>
          <p:cNvSpPr txBox="1"/>
          <p:nvPr/>
        </p:nvSpPr>
        <p:spPr>
          <a:xfrm>
            <a:off x="1600200" y="2194560"/>
            <a:ext cx="4114800" cy="731520"/>
          </a:xfrm>
          <a:prstGeom prst="rect">
            <a:avLst/>
          </a:prstGeom>
          <a:noFill/>
          <a:ln/>
        </p:spPr>
        <p:txBody>
          <a:bodyPr wrap="square" lIns="0" tIns="0" rIns="0" bIns="0" rtlCol="0" anchor="t"/>
          <a:lstStyle/>
          <a:p>
            <a:pPr indent="0" marL="0">
              <a:buNone/>
            </a:pPr>
            <a:r>
              <a:rPr lang="en-US" sz="1500" dirty="0">
                <a:solidFill>
                  <a:schemeClr val="tx1"/>
                </a:solidFill>
              </a:rPr>
              <a:t>Minify, gộp file, cache, sửa theme, đổi file ảnh hoặc font.</a:t>
            </a:r>
            <a:endParaRPr lang="en-US" sz="1500" dirty="0"/>
          </a:p>
        </p:txBody>
      </p:sp>
      <p:sp>
        <p:nvSpPr>
          <p:cNvPr id="8" name="card-157"/>
          <p:cNvSpPr/>
          <p:nvPr/>
        </p:nvSpPr>
        <p:spPr>
          <a:xfrm>
            <a:off x="6217920" y="1371600"/>
            <a:ext cx="5394960" cy="1645920"/>
          </a:xfrm>
          <a:prstGeom prst="roundRect">
            <a:avLst>
              <a:gd name="adj" fmla="val 6667"/>
            </a:avLst>
          </a:prstGeom>
          <a:solidFill>
            <a:schemeClr val="bg2"/>
          </a:solidFill>
          <a:ln/>
        </p:spPr>
      </p:sp>
      <p:sp>
        <p:nvSpPr>
          <p:cNvPr id="9" name="badge-158"/>
          <p:cNvSpPr/>
          <p:nvPr/>
        </p:nvSpPr>
        <p:spPr>
          <a:xfrm>
            <a:off x="6492240" y="1645920"/>
            <a:ext cx="548640" cy="54864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0" name="text-159"/>
          <p:cNvSpPr txBox="1"/>
          <p:nvPr/>
        </p:nvSpPr>
        <p:spPr>
          <a:xfrm>
            <a:off x="7269480" y="164592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Cấu hình LiteSpeed</a:t>
            </a:r>
            <a:endParaRPr lang="en-US" sz="1800" dirty="0"/>
          </a:p>
        </p:txBody>
      </p:sp>
      <p:sp>
        <p:nvSpPr>
          <p:cNvPr id="11" name="text-160"/>
          <p:cNvSpPr txBox="1"/>
          <p:nvPr/>
        </p:nvSpPr>
        <p:spPr>
          <a:xfrm>
            <a:off x="7269480" y="2194560"/>
            <a:ext cx="4114800" cy="731520"/>
          </a:xfrm>
          <a:prstGeom prst="rect">
            <a:avLst/>
          </a:prstGeom>
          <a:noFill/>
          <a:ln/>
        </p:spPr>
        <p:txBody>
          <a:bodyPr wrap="square" lIns="0" tIns="0" rIns="0" bIns="0" rtlCol="0" anchor="t"/>
          <a:lstStyle/>
          <a:p>
            <a:pPr indent="0" marL="0">
              <a:buNone/>
            </a:pPr>
            <a:r>
              <a:rPr lang="en-US" sz="1500" dirty="0">
                <a:solidFill>
                  <a:schemeClr val="tx1"/>
                </a:solidFill>
              </a:rPr>
              <a:t>Không sửa. Các thông số LiteSpeed chỉ nằm ở mục đề xuất của báo cáo.</a:t>
            </a:r>
            <a:endParaRPr lang="en-US" sz="1500" dirty="0"/>
          </a:p>
        </p:txBody>
      </p:sp>
      <p:sp>
        <p:nvSpPr>
          <p:cNvPr id="12" name="card-161"/>
          <p:cNvSpPr/>
          <p:nvPr/>
        </p:nvSpPr>
        <p:spPr>
          <a:xfrm>
            <a:off x="548640" y="3246120"/>
            <a:ext cx="5394960" cy="1645920"/>
          </a:xfrm>
          <a:prstGeom prst="roundRect">
            <a:avLst>
              <a:gd name="adj" fmla="val 6667"/>
            </a:avLst>
          </a:prstGeom>
          <a:solidFill>
            <a:schemeClr val="bg2"/>
          </a:solidFill>
          <a:ln/>
        </p:spPr>
      </p:sp>
      <p:sp>
        <p:nvSpPr>
          <p:cNvPr id="13" name="badge-162"/>
          <p:cNvSpPr/>
          <p:nvPr/>
        </p:nvSpPr>
        <p:spPr>
          <a:xfrm>
            <a:off x="822960" y="3520440"/>
            <a:ext cx="548640" cy="54864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4" name="text-163"/>
          <p:cNvSpPr txBox="1"/>
          <p:nvPr/>
        </p:nvSpPr>
        <p:spPr>
          <a:xfrm>
            <a:off x="1600200" y="352044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Xóa cache toàn site</a:t>
            </a:r>
            <a:endParaRPr lang="en-US" sz="1800" dirty="0"/>
          </a:p>
        </p:txBody>
      </p:sp>
      <p:sp>
        <p:nvSpPr>
          <p:cNvPr id="15" name="text-164"/>
          <p:cNvSpPr txBox="1"/>
          <p:nvPr/>
        </p:nvSpPr>
        <p:spPr>
          <a:xfrm>
            <a:off x="1600200" y="4069080"/>
            <a:ext cx="4114800" cy="731520"/>
          </a:xfrm>
          <a:prstGeom prst="rect">
            <a:avLst/>
          </a:prstGeom>
          <a:noFill/>
          <a:ln/>
        </p:spPr>
        <p:txBody>
          <a:bodyPr wrap="square" lIns="0" tIns="0" rIns="0" bIns="0" rtlCol="0" anchor="t"/>
          <a:lstStyle/>
          <a:p>
            <a:pPr indent="0" marL="0">
              <a:buNone/>
            </a:pPr>
            <a:r>
              <a:rPr lang="en-US" sz="1500" dirty="0">
                <a:solidFill>
                  <a:schemeClr val="tx1"/>
                </a:solidFill>
              </a:rPr>
              <a:t>Không làm. Agent chỉ xóa cache đúng URL vừa tối ưu.</a:t>
            </a:r>
            <a:endParaRPr lang="en-US" sz="1500" dirty="0"/>
          </a:p>
        </p:txBody>
      </p:sp>
      <p:sp>
        <p:nvSpPr>
          <p:cNvPr id="16" name="card-165"/>
          <p:cNvSpPr/>
          <p:nvPr/>
        </p:nvSpPr>
        <p:spPr>
          <a:xfrm>
            <a:off x="6217920" y="3246120"/>
            <a:ext cx="5394960" cy="1645920"/>
          </a:xfrm>
          <a:prstGeom prst="roundRect">
            <a:avLst>
              <a:gd name="adj" fmla="val 6667"/>
            </a:avLst>
          </a:prstGeom>
          <a:solidFill>
            <a:schemeClr val="bg2"/>
          </a:solidFill>
          <a:ln/>
        </p:spPr>
      </p:sp>
      <p:sp>
        <p:nvSpPr>
          <p:cNvPr id="17" name="badge-166"/>
          <p:cNvSpPr/>
          <p:nvPr/>
        </p:nvSpPr>
        <p:spPr>
          <a:xfrm>
            <a:off x="6492240" y="3520440"/>
            <a:ext cx="548640" cy="54864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8" name="text-167"/>
          <p:cNvSpPr txBox="1"/>
          <p:nvPr/>
        </p:nvSpPr>
        <p:spPr>
          <a:xfrm>
            <a:off x="7269480" y="352044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Trang tag</a:t>
            </a:r>
            <a:endParaRPr lang="en-US" sz="1800" dirty="0"/>
          </a:p>
        </p:txBody>
      </p:sp>
      <p:sp>
        <p:nvSpPr>
          <p:cNvPr id="19" name="text-168"/>
          <p:cNvSpPr txBox="1"/>
          <p:nvPr/>
        </p:nvSpPr>
        <p:spPr>
          <a:xfrm>
            <a:off x="7269480" y="4069080"/>
            <a:ext cx="4114800" cy="731520"/>
          </a:xfrm>
          <a:prstGeom prst="rect">
            <a:avLst/>
          </a:prstGeom>
          <a:noFill/>
          <a:ln/>
        </p:spPr>
        <p:txBody>
          <a:bodyPr wrap="square" lIns="0" tIns="0" rIns="0" bIns="0" rtlCol="0" anchor="t"/>
          <a:lstStyle/>
          <a:p>
            <a:pPr indent="0" marL="0">
              <a:buNone/>
            </a:pPr>
            <a:r>
              <a:rPr lang="en-US" sz="1500" dirty="0">
                <a:solidFill>
                  <a:schemeClr val="tx1"/>
                </a:solidFill>
              </a:rPr>
              <a:t>Không tối ưu riêng cho trang tag.</a:t>
            </a:r>
            <a:endParaRPr lang="en-US" sz="1500" dirty="0"/>
          </a:p>
        </p:txBody>
      </p:sp>
      <p:sp>
        <p:nvSpPr>
          <p:cNvPr id="20" name="text-169"/>
          <p:cNvSpPr txBox="1"/>
          <p:nvPr/>
        </p:nvSpPr>
        <p:spPr>
          <a:xfrm>
            <a:off x="548640" y="5257800"/>
            <a:ext cx="11064240" cy="411480"/>
          </a:xfrm>
          <a:prstGeom prst="rect">
            <a:avLst/>
          </a:prstGeom>
          <a:noFill/>
          <a:ln/>
        </p:spPr>
        <p:txBody>
          <a:bodyPr wrap="square" lIns="0" tIns="0" rIns="0" bIns="0" rtlCol="0" anchor="t"/>
          <a:lstStyle/>
          <a:p>
            <a:pPr indent="0" marL="0">
              <a:buNone/>
            </a:pPr>
            <a:r>
              <a:rPr lang="en-US" sz="1500" i="1" dirty="0">
                <a:solidFill>
                  <a:schemeClr val="accent5"/>
                </a:solidFill>
              </a:rPr>
              <a:t>Những việc này, nếu cần, nằm trong file </a:t>
            </a:r>
            <a:pPr indent="0" marL="0">
              <a:buNone/>
            </a:pPr>
            <a:r>
              <a:rPr lang="en-US" sz="1500" i="1" dirty="0">
                <a:solidFill>
                  <a:schemeClr val="accent5"/>
                </a:solidFill>
                <a:latin typeface="Courier New" pitchFamily="34" charset="0"/>
                <a:ea typeface="Courier New" pitchFamily="34" charset="-122"/>
                <a:cs typeface="Courier New" pitchFamily="34" charset="-120"/>
              </a:rPr>
              <a:t>Đề xuất bổ sung</a:t>
            </a:r>
            <a:pPr indent="0" marL="0">
              <a:buNone/>
            </a:pPr>
            <a:r>
              <a:rPr lang="en-US" sz="1500" i="1" dirty="0">
                <a:solidFill>
                  <a:schemeClr val="accent5"/>
                </a:solidFill>
              </a:rPr>
              <a:t>. Riêng ảnh nặng, agent hỗ trợ được: xem trang sau.</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Gặp lỗi thì làm gì</a:t>
            </a:r>
            <a:endParaRPr lang="en-US" sz="3200" dirty="0"/>
          </a:p>
        </p:txBody>
      </p:sp>
      <p:graphicFrame>
        <p:nvGraphicFramePr>
          <p:cNvPr id="17" name="table-17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7772400"/>
              </a:tblGrid>
              <a:tr h="0">
                <a:tc>
                  <a:txBody>
                    <a:bodyPr/>
                    <a:lstStyle/>
                    <a:p>
                      <a:pPr indent="0" marL="0">
                        <a:buNone/>
                      </a:pPr>
                      <a:r>
                        <a:rPr lang="en-US" sz="1300" b="1" dirty="0">
                          <a:solidFill>
                            <a:schemeClr val="bg1"/>
                          </a:solidFill>
                        </a:rPr>
                        <a:t>Hiện tượng</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Cách xử lý</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Agent không thấy tool </a:t>
                      </a:r>
                      <a:pPr indent="0" marL="0">
                        <a:buNone/>
                      </a:pPr>
                      <a:r>
                        <a:rPr lang="en-US" sz="1300" dirty="0">
                          <a:solidFill>
                            <a:schemeClr val="tx1"/>
                          </a:solidFill>
                          <a:latin typeface="Courier New" pitchFamily="34" charset="0"/>
                          <a:ea typeface="Courier New" pitchFamily="34" charset="-122"/>
                          <a:cs typeface="Courier New" pitchFamily="34" charset="-120"/>
                        </a:rPr>
                        <a:t>vnx_*</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Thoát và mở lại agent sau khi nối MCP</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Lỗi 401</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Token sai hoặc vừa tạo token mới. Copy lại mẫu kết nối, nối lại, khởi động lại agent</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Lỗi 403 hoặc MCP tắt</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Tab MCP: tick Bật MCP, bấm Lưu MCP</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MCP trả tên miền khác</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Agent đang nối site cũ. Gỡ kết nối cũ, dán mẫu của site đúng, khởi động lại</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API key not valid</a:t>
                      </a:r>
                      <a:pPr indent="0" marL="0">
                        <a:buNone/>
                      </a:pPr>
                      <a:r>
                        <a:rPr lang="en-US" sz="1300" dirty="0">
                          <a:solidFill>
                            <a:schemeClr val="tx1"/>
                          </a:solidFill>
                        </a:rPr>
                        <a:t> (lỗi 400)</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Key sai hoặc chưa bật PageSpeed Insights API trên Google Cloud</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Lỗi 429</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Hết quota. Mỗi vòng kiểm tra lại tốn 6 lượt mỗi link. Chờ rồi chạy lại, hoặc để agent lấy số trên pagespeed.web.dev</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Báo cáo ghi </a:t>
                      </a:r>
                      <a:pPr indent="0" marL="0">
                        <a:buNone/>
                      </a:pPr>
                      <a:r>
                        <a:rPr lang="en-US" sz="1300" dirty="0">
                          <a:solidFill>
                            <a:schemeClr val="tx1"/>
                          </a:solidFill>
                          <a:latin typeface="Courier New" pitchFamily="34" charset="0"/>
                          <a:ea typeface="Courier New" pitchFamily="34" charset="-122"/>
                          <a:cs typeface="Courier New" pitchFamily="34" charset="-120"/>
                        </a:rPr>
                        <a:t>không đo được</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PageSpeed lỗi hai lần. Chạy lại sau. Agent không tự đặt ra số liệu</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Trang vỡ giao diện sau tối ưu</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Nhắn agent rollback thay đổi vừa ghi. Khẩn cấp: Vietnix Optimization → tab Options → tắt Active All Optimize, xóa cache LiteSpeed, báo agent</a:t>
                      </a:r>
                      <a:endParaRPr lang="en-US" sz="1300" dirty="0"/>
                    </a:p>
                  </a:txBody>
                  <a:tcPr marL="91440" marR="91440" marT="54864" marB="54864"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Bảo mật</a:t>
            </a:r>
            <a:endParaRPr lang="en-US" sz="3200" dirty="0"/>
          </a:p>
        </p:txBody>
      </p:sp>
      <p:sp>
        <p:nvSpPr>
          <p:cNvPr id="4" name="card-171"/>
          <p:cNvSpPr/>
          <p:nvPr/>
        </p:nvSpPr>
        <p:spPr>
          <a:xfrm>
            <a:off x="548640" y="1371600"/>
            <a:ext cx="3520440" cy="3840480"/>
          </a:xfrm>
          <a:prstGeom prst="roundRect">
            <a:avLst>
              <a:gd name="adj" fmla="val 3117"/>
            </a:avLst>
          </a:prstGeom>
          <a:solidFill>
            <a:schemeClr val="bg2"/>
          </a:solidFill>
          <a:ln/>
        </p:spPr>
      </p:sp>
      <p:sp>
        <p:nvSpPr>
          <p:cNvPr id="5" name="badge-172"/>
          <p:cNvSpPr/>
          <p:nvPr/>
        </p:nvSpPr>
        <p:spPr>
          <a:xfrm>
            <a:off x="868680" y="1691640"/>
            <a:ext cx="640080" cy="64008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6" name="text-173"/>
          <p:cNvSpPr txBox="1"/>
          <p:nvPr/>
        </p:nvSpPr>
        <p:spPr>
          <a:xfrm>
            <a:off x="868680" y="2560320"/>
            <a:ext cx="2880360" cy="548640"/>
          </a:xfrm>
          <a:prstGeom prst="rect">
            <a:avLst/>
          </a:prstGeom>
          <a:noFill/>
          <a:ln/>
        </p:spPr>
        <p:txBody>
          <a:bodyPr wrap="square" lIns="0" tIns="0" rIns="0" bIns="0" rtlCol="0" anchor="t"/>
          <a:lstStyle/>
          <a:p>
            <a:pPr indent="0" marL="0">
              <a:buNone/>
            </a:pPr>
            <a:r>
              <a:rPr lang="en-US" sz="2000" b="1" dirty="0">
                <a:solidFill>
                  <a:schemeClr val="tx2"/>
                </a:solidFill>
              </a:rPr>
              <a:t>Token MCP</a:t>
            </a:r>
            <a:endParaRPr lang="en-US" sz="2000" dirty="0"/>
          </a:p>
        </p:txBody>
      </p:sp>
      <p:sp>
        <p:nvSpPr>
          <p:cNvPr id="7" name="text-174"/>
          <p:cNvSpPr txBox="1"/>
          <p:nvPr/>
        </p:nvSpPr>
        <p:spPr>
          <a:xfrm>
            <a:off x="868680" y="3200400"/>
            <a:ext cx="2880360" cy="1828800"/>
          </a:xfrm>
          <a:prstGeom prst="rect">
            <a:avLst/>
          </a:prstGeom>
          <a:noFill/>
          <a:ln/>
        </p:spPr>
        <p:txBody>
          <a:bodyPr wrap="square" lIns="0" tIns="0" rIns="0" bIns="0" rtlCol="0" anchor="t"/>
          <a:lstStyle/>
          <a:p>
            <a:pPr indent="0" marL="0">
              <a:buNone/>
            </a:pPr>
            <a:r>
              <a:rPr lang="en-US" sz="1500" dirty="0">
                <a:solidFill>
                  <a:schemeClr val="tx1"/>
                </a:solidFill>
              </a:rPr>
              <a:t>Không gửi token hay ảnh trang Mẫu kết nối cho ai.</a:t>
            </a:r>
            <a:endParaRPr lang="en-US" sz="1500" dirty="0"/>
          </a:p>
        </p:txBody>
      </p:sp>
      <p:sp>
        <p:nvSpPr>
          <p:cNvPr id="8" name="card-175"/>
          <p:cNvSpPr/>
          <p:nvPr/>
        </p:nvSpPr>
        <p:spPr>
          <a:xfrm>
            <a:off x="4315968" y="1371600"/>
            <a:ext cx="3520440" cy="3840480"/>
          </a:xfrm>
          <a:prstGeom prst="roundRect">
            <a:avLst>
              <a:gd name="adj" fmla="val 3117"/>
            </a:avLst>
          </a:prstGeom>
          <a:solidFill>
            <a:schemeClr val="bg2"/>
          </a:solidFill>
          <a:ln/>
        </p:spPr>
      </p:sp>
      <p:sp>
        <p:nvSpPr>
          <p:cNvPr id="9" name="badge-176"/>
          <p:cNvSpPr/>
          <p:nvPr/>
        </p:nvSpPr>
        <p:spPr>
          <a:xfrm>
            <a:off x="4636008" y="1691640"/>
            <a:ext cx="640080" cy="64008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10" name="text-177"/>
          <p:cNvSpPr txBox="1"/>
          <p:nvPr/>
        </p:nvSpPr>
        <p:spPr>
          <a:xfrm>
            <a:off x="4636008" y="2560320"/>
            <a:ext cx="2880360" cy="548640"/>
          </a:xfrm>
          <a:prstGeom prst="rect">
            <a:avLst/>
          </a:prstGeom>
          <a:noFill/>
          <a:ln/>
        </p:spPr>
        <p:txBody>
          <a:bodyPr wrap="square" lIns="0" tIns="0" rIns="0" bIns="0" rtlCol="0" anchor="t"/>
          <a:lstStyle/>
          <a:p>
            <a:pPr indent="0" marL="0">
              <a:buNone/>
            </a:pPr>
            <a:r>
              <a:rPr lang="en-US" sz="2000" b="1" dirty="0">
                <a:solidFill>
                  <a:schemeClr val="tx2"/>
                </a:solidFill>
              </a:rPr>
              <a:t>Do.md và .env</a:t>
            </a:r>
            <a:endParaRPr lang="en-US" sz="2000" dirty="0"/>
          </a:p>
        </p:txBody>
      </p:sp>
      <p:sp>
        <p:nvSpPr>
          <p:cNvPr id="11" name="text-178"/>
          <p:cNvSpPr txBox="1"/>
          <p:nvPr/>
        </p:nvSpPr>
        <p:spPr>
          <a:xfrm>
            <a:off x="4636008" y="3200400"/>
            <a:ext cx="2880360" cy="1828800"/>
          </a:xfrm>
          <a:prstGeom prst="rect">
            <a:avLst/>
          </a:prstGeom>
          <a:noFill/>
          <a:ln/>
        </p:spPr>
        <p:txBody>
          <a:bodyPr wrap="square" lIns="0" tIns="0" rIns="0" bIns="0" rtlCol="0" anchor="t"/>
          <a:lstStyle/>
          <a:p>
            <a:pPr indent="0" marL="0">
              <a:buNone/>
            </a:pPr>
            <a:r>
              <a:rPr lang="en-US" sz="1500" dirty="0">
                <a:solidFill>
                  <a:schemeClr val="tx1"/>
                </a:solidFill>
              </a:rPr>
              <a:t>Mục 1 của </a:t>
            </a:r>
            <a:pPr indent="0" marL="0">
              <a:buNone/>
            </a:pPr>
            <a:r>
              <a:rPr lang="en-US" sz="1500" dirty="0">
                <a:solidFill>
                  <a:schemeClr val="tx1"/>
                </a:solidFill>
                <a:latin typeface="Courier New" pitchFamily="34" charset="0"/>
                <a:ea typeface="Courier New" pitchFamily="34" charset="-122"/>
                <a:cs typeface="Courier New" pitchFamily="34" charset="-120"/>
              </a:rPr>
              <a:t>Do.md</a:t>
            </a:r>
            <a:pPr indent="0" marL="0">
              <a:buNone/>
            </a:pPr>
            <a:r>
              <a:rPr lang="en-US" sz="1500" dirty="0">
                <a:solidFill>
                  <a:schemeClr val="tx1"/>
                </a:solidFill>
              </a:rPr>
              <a:t xml:space="preserve"> chứa API key PageSpeed, .env có thể chứa tài khoản wp-admin. Xóa trước khi chia sẻ thư mục </a:t>
            </a:r>
            <a:pPr indent="0" marL="0">
              <a:buNone/>
            </a:pPr>
            <a:r>
              <a:rPr lang="en-US" sz="1500" dirty="0">
                <a:solidFill>
                  <a:schemeClr val="tx1"/>
                </a:solidFill>
                <a:latin typeface="Courier New" pitchFamily="34" charset="0"/>
                <a:ea typeface="Courier New" pitchFamily="34" charset="-122"/>
                <a:cs typeface="Courier New" pitchFamily="34" charset="-120"/>
              </a:rPr>
              <a:t>audit-website</a:t>
            </a:r>
            <a:pPr indent="0" marL="0">
              <a:buNone/>
            </a:pPr>
            <a:r>
              <a:rPr lang="en-US" sz="1500" dirty="0">
                <a:solidFill>
                  <a:schemeClr val="tx1"/>
                </a:solidFill>
              </a:rPr>
              <a:t>.</a:t>
            </a:r>
            <a:endParaRPr lang="en-US" sz="1500" dirty="0"/>
          </a:p>
        </p:txBody>
      </p:sp>
      <p:sp>
        <p:nvSpPr>
          <p:cNvPr id="12" name="card-179"/>
          <p:cNvSpPr/>
          <p:nvPr/>
        </p:nvSpPr>
        <p:spPr>
          <a:xfrm>
            <a:off x="8083296" y="1371600"/>
            <a:ext cx="3520440" cy="3840480"/>
          </a:xfrm>
          <a:prstGeom prst="roundRect">
            <a:avLst>
              <a:gd name="adj" fmla="val 3117"/>
            </a:avLst>
          </a:prstGeom>
          <a:solidFill>
            <a:schemeClr val="bg2"/>
          </a:solidFill>
          <a:ln/>
        </p:spPr>
      </p:sp>
      <p:sp>
        <p:nvSpPr>
          <p:cNvPr id="13" name="badge-180"/>
          <p:cNvSpPr/>
          <p:nvPr/>
        </p:nvSpPr>
        <p:spPr>
          <a:xfrm>
            <a:off x="8403336" y="1691640"/>
            <a:ext cx="640080" cy="64008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14" name="text-181"/>
          <p:cNvSpPr txBox="1"/>
          <p:nvPr/>
        </p:nvSpPr>
        <p:spPr>
          <a:xfrm>
            <a:off x="8403336" y="2560320"/>
            <a:ext cx="2880360" cy="548640"/>
          </a:xfrm>
          <a:prstGeom prst="rect">
            <a:avLst/>
          </a:prstGeom>
          <a:noFill/>
          <a:ln/>
        </p:spPr>
        <p:txBody>
          <a:bodyPr wrap="square" lIns="0" tIns="0" rIns="0" bIns="0" rtlCol="0" anchor="t"/>
          <a:lstStyle/>
          <a:p>
            <a:pPr indent="0" marL="0">
              <a:buNone/>
            </a:pPr>
            <a:r>
              <a:rPr lang="en-US" sz="2000" b="1" dirty="0">
                <a:solidFill>
                  <a:schemeClr val="tx2"/>
                </a:solidFill>
              </a:rPr>
              <a:t>Báo cáo</a:t>
            </a:r>
            <a:endParaRPr lang="en-US" sz="2000" dirty="0"/>
          </a:p>
        </p:txBody>
      </p:sp>
      <p:sp>
        <p:nvSpPr>
          <p:cNvPr id="15" name="text-182"/>
          <p:cNvSpPr txBox="1"/>
          <p:nvPr/>
        </p:nvSpPr>
        <p:spPr>
          <a:xfrm>
            <a:off x="8403336" y="3200400"/>
            <a:ext cx="2880360" cy="1828800"/>
          </a:xfrm>
          <a:prstGeom prst="rect">
            <a:avLst/>
          </a:prstGeom>
          <a:noFill/>
          <a:ln/>
        </p:spPr>
        <p:txBody>
          <a:bodyPr wrap="square" lIns="0" tIns="0" rIns="0" bIns="0" rtlCol="0" anchor="t"/>
          <a:lstStyle/>
          <a:p>
            <a:pPr indent="0" marL="0">
              <a:buNone/>
            </a:pPr>
            <a:r>
              <a:rPr lang="en-US" sz="1500" dirty="0">
                <a:solidFill>
                  <a:schemeClr val="tx1"/>
                </a:solidFill>
              </a:rPr>
              <a:t>Không chứa token hay key, và không được lưu lên site.</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Thuật ngữ</a:t>
            </a:r>
            <a:endParaRPr lang="en-US" sz="3200" dirty="0"/>
          </a:p>
        </p:txBody>
      </p:sp>
      <p:sp>
        <p:nvSpPr>
          <p:cNvPr id="4" name="stripe-183"/>
          <p:cNvSpPr/>
          <p:nvPr/>
        </p:nvSpPr>
        <p:spPr>
          <a:xfrm>
            <a:off x="548640" y="1280160"/>
            <a:ext cx="5394960" cy="658368"/>
          </a:xfrm>
          <a:prstGeom prst="rect">
            <a:avLst/>
          </a:prstGeom>
          <a:solidFill>
            <a:schemeClr val="bg2"/>
          </a:solidFill>
          <a:ln/>
        </p:spPr>
      </p:sp>
      <p:sp>
        <p:nvSpPr>
          <p:cNvPr id="5" name="text-184"/>
          <p:cNvSpPr txBox="1"/>
          <p:nvPr/>
        </p:nvSpPr>
        <p:spPr>
          <a:xfrm>
            <a:off x="685800" y="12801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PageSpeed (PSI)</a:t>
            </a:r>
            <a:endParaRPr lang="en-US" sz="1400" dirty="0"/>
          </a:p>
        </p:txBody>
      </p:sp>
      <p:sp>
        <p:nvSpPr>
          <p:cNvPr id="6" name="text-185"/>
          <p:cNvSpPr txBox="1"/>
          <p:nvPr/>
        </p:nvSpPr>
        <p:spPr>
          <a:xfrm>
            <a:off x="2651760" y="1280160"/>
            <a:ext cx="3200400" cy="658368"/>
          </a:xfrm>
          <a:prstGeom prst="rect">
            <a:avLst/>
          </a:prstGeom>
          <a:noFill/>
          <a:ln/>
        </p:spPr>
        <p:txBody>
          <a:bodyPr wrap="square" lIns="0" tIns="0" rIns="0" bIns="0" rtlCol="0" anchor="ctr"/>
          <a:lstStyle/>
          <a:p>
            <a:pPr indent="0" marL="0">
              <a:buNone/>
            </a:pPr>
            <a:r>
              <a:rPr lang="en-US" sz="1400" dirty="0">
                <a:solidFill>
                  <a:schemeClr val="tx1"/>
                </a:solidFill>
              </a:rPr>
              <a:t>Điểm 0–100 của Google, đo riêng mobile và desktop</a:t>
            </a:r>
            <a:endParaRPr lang="en-US" sz="1400" dirty="0"/>
          </a:p>
        </p:txBody>
      </p:sp>
      <p:sp>
        <p:nvSpPr>
          <p:cNvPr id="7" name="text-186"/>
          <p:cNvSpPr txBox="1"/>
          <p:nvPr/>
        </p:nvSpPr>
        <p:spPr>
          <a:xfrm>
            <a:off x="685800" y="19659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Load</a:t>
            </a:r>
            <a:endParaRPr lang="en-US" sz="1400" dirty="0"/>
          </a:p>
        </p:txBody>
      </p:sp>
      <p:sp>
        <p:nvSpPr>
          <p:cNvPr id="8" name="text-187"/>
          <p:cNvSpPr txBox="1"/>
          <p:nvPr/>
        </p:nvSpPr>
        <p:spPr>
          <a:xfrm>
            <a:off x="2651760" y="1965960"/>
            <a:ext cx="3200400" cy="658368"/>
          </a:xfrm>
          <a:prstGeom prst="rect">
            <a:avLst/>
          </a:prstGeom>
          <a:noFill/>
          <a:ln/>
        </p:spPr>
        <p:txBody>
          <a:bodyPr wrap="square" lIns="0" tIns="0" rIns="0" bIns="0" rtlCol="0" anchor="ctr"/>
          <a:lstStyle/>
          <a:p>
            <a:pPr indent="0" marL="0">
              <a:buNone/>
            </a:pPr>
            <a:r>
              <a:rPr lang="en-US" sz="1400" dirty="0">
                <a:solidFill>
                  <a:schemeClr val="tx1"/>
                </a:solidFill>
              </a:rPr>
              <a:t>Thời gian trình duyệt tải xong trang khi đo thật</a:t>
            </a:r>
            <a:endParaRPr lang="en-US" sz="1400" dirty="0"/>
          </a:p>
        </p:txBody>
      </p:sp>
      <p:sp>
        <p:nvSpPr>
          <p:cNvPr id="9" name="stripe-188"/>
          <p:cNvSpPr/>
          <p:nvPr/>
        </p:nvSpPr>
        <p:spPr>
          <a:xfrm>
            <a:off x="548640" y="2651760"/>
            <a:ext cx="5394960" cy="658368"/>
          </a:xfrm>
          <a:prstGeom prst="rect">
            <a:avLst/>
          </a:prstGeom>
          <a:solidFill>
            <a:schemeClr val="bg2"/>
          </a:solidFill>
          <a:ln/>
        </p:spPr>
      </p:sp>
      <p:sp>
        <p:nvSpPr>
          <p:cNvPr id="10" name="text-189"/>
          <p:cNvSpPr txBox="1"/>
          <p:nvPr/>
        </p:nvSpPr>
        <p:spPr>
          <a:xfrm>
            <a:off x="685800" y="26517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LCP</a:t>
            </a:r>
            <a:endParaRPr lang="en-US" sz="1400" dirty="0"/>
          </a:p>
        </p:txBody>
      </p:sp>
      <p:sp>
        <p:nvSpPr>
          <p:cNvPr id="11" name="text-190"/>
          <p:cNvSpPr txBox="1"/>
          <p:nvPr/>
        </p:nvSpPr>
        <p:spPr>
          <a:xfrm>
            <a:off x="2651760" y="2651760"/>
            <a:ext cx="3200400" cy="658368"/>
          </a:xfrm>
          <a:prstGeom prst="rect">
            <a:avLst/>
          </a:prstGeom>
          <a:noFill/>
          <a:ln/>
        </p:spPr>
        <p:txBody>
          <a:bodyPr wrap="square" lIns="0" tIns="0" rIns="0" bIns="0" rtlCol="0" anchor="ctr"/>
          <a:lstStyle/>
          <a:p>
            <a:pPr indent="0" marL="0">
              <a:buNone/>
            </a:pPr>
            <a:r>
              <a:rPr lang="en-US" sz="1400" dirty="0">
                <a:solidFill>
                  <a:schemeClr val="tx1"/>
                </a:solidFill>
              </a:rPr>
              <a:t>Lúc phần tử lớn nhất màn hình đầu hiện ra</a:t>
            </a:r>
            <a:endParaRPr lang="en-US" sz="1400" dirty="0"/>
          </a:p>
        </p:txBody>
      </p:sp>
      <p:sp>
        <p:nvSpPr>
          <p:cNvPr id="12" name="text-191"/>
          <p:cNvSpPr txBox="1"/>
          <p:nvPr/>
        </p:nvSpPr>
        <p:spPr>
          <a:xfrm>
            <a:off x="685800" y="33375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CLS</a:t>
            </a:r>
            <a:endParaRPr lang="en-US" sz="1400" dirty="0"/>
          </a:p>
        </p:txBody>
      </p:sp>
      <p:sp>
        <p:nvSpPr>
          <p:cNvPr id="13" name="text-192"/>
          <p:cNvSpPr txBox="1"/>
          <p:nvPr/>
        </p:nvSpPr>
        <p:spPr>
          <a:xfrm>
            <a:off x="2651760" y="3337560"/>
            <a:ext cx="3200400" cy="658368"/>
          </a:xfrm>
          <a:prstGeom prst="rect">
            <a:avLst/>
          </a:prstGeom>
          <a:noFill/>
          <a:ln/>
        </p:spPr>
        <p:txBody>
          <a:bodyPr wrap="square" lIns="0" tIns="0" rIns="0" bIns="0" rtlCol="0" anchor="ctr"/>
          <a:lstStyle/>
          <a:p>
            <a:pPr indent="0" marL="0">
              <a:buNone/>
            </a:pPr>
            <a:r>
              <a:rPr lang="en-US" sz="1400" dirty="0">
                <a:solidFill>
                  <a:schemeClr val="tx1"/>
                </a:solidFill>
              </a:rPr>
              <a:t>Mức nội dung bị xô lệch khi tải. Càng nhỏ càng tốt</a:t>
            </a:r>
            <a:endParaRPr lang="en-US" sz="1400" dirty="0"/>
          </a:p>
        </p:txBody>
      </p:sp>
      <p:sp>
        <p:nvSpPr>
          <p:cNvPr id="14" name="stripe-193"/>
          <p:cNvSpPr/>
          <p:nvPr/>
        </p:nvSpPr>
        <p:spPr>
          <a:xfrm>
            <a:off x="548640" y="4023360"/>
            <a:ext cx="5394960" cy="658368"/>
          </a:xfrm>
          <a:prstGeom prst="rect">
            <a:avLst/>
          </a:prstGeom>
          <a:solidFill>
            <a:schemeClr val="bg2"/>
          </a:solidFill>
          <a:ln/>
        </p:spPr>
      </p:sp>
      <p:sp>
        <p:nvSpPr>
          <p:cNvPr id="15" name="text-194"/>
          <p:cNvSpPr txBox="1"/>
          <p:nvPr/>
        </p:nvSpPr>
        <p:spPr>
          <a:xfrm>
            <a:off x="685800" y="40233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MCP</a:t>
            </a:r>
            <a:endParaRPr lang="en-US" sz="1400" dirty="0"/>
          </a:p>
        </p:txBody>
      </p:sp>
      <p:sp>
        <p:nvSpPr>
          <p:cNvPr id="16" name="text-195"/>
          <p:cNvSpPr txBox="1"/>
          <p:nvPr/>
        </p:nvSpPr>
        <p:spPr>
          <a:xfrm>
            <a:off x="2651760" y="4023360"/>
            <a:ext cx="3200400" cy="658368"/>
          </a:xfrm>
          <a:prstGeom prst="rect">
            <a:avLst/>
          </a:prstGeom>
          <a:noFill/>
          <a:ln/>
        </p:spPr>
        <p:txBody>
          <a:bodyPr wrap="square" lIns="0" tIns="0" rIns="0" bIns="0" rtlCol="0" anchor="ctr"/>
          <a:lstStyle/>
          <a:p>
            <a:pPr indent="0" marL="0">
              <a:buNone/>
            </a:pPr>
            <a:r>
              <a:rPr lang="en-US" sz="1400" dirty="0">
                <a:solidFill>
                  <a:schemeClr val="tx1"/>
                </a:solidFill>
              </a:rPr>
              <a:t>Cổng để agent đọc điểm và ghi cấu hình plugin</a:t>
            </a:r>
            <a:endParaRPr lang="en-US" sz="1400" dirty="0"/>
          </a:p>
        </p:txBody>
      </p:sp>
      <p:sp>
        <p:nvSpPr>
          <p:cNvPr id="17" name="text-196"/>
          <p:cNvSpPr txBox="1"/>
          <p:nvPr/>
        </p:nvSpPr>
        <p:spPr>
          <a:xfrm>
            <a:off x="685800" y="47091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Dry-run</a:t>
            </a:r>
            <a:endParaRPr lang="en-US" sz="1400" dirty="0"/>
          </a:p>
        </p:txBody>
      </p:sp>
      <p:sp>
        <p:nvSpPr>
          <p:cNvPr id="18" name="text-197"/>
          <p:cNvSpPr txBox="1"/>
          <p:nvPr/>
        </p:nvSpPr>
        <p:spPr>
          <a:xfrm>
            <a:off x="2651760" y="4709160"/>
            <a:ext cx="3200400" cy="658368"/>
          </a:xfrm>
          <a:prstGeom prst="rect">
            <a:avLst/>
          </a:prstGeom>
          <a:noFill/>
          <a:ln/>
        </p:spPr>
        <p:txBody>
          <a:bodyPr wrap="square" lIns="0" tIns="0" rIns="0" bIns="0" rtlCol="0" anchor="ctr"/>
          <a:lstStyle/>
          <a:p>
            <a:pPr indent="0" marL="0">
              <a:buNone/>
            </a:pPr>
            <a:r>
              <a:rPr lang="en-US" sz="1400" dirty="0">
                <a:solidFill>
                  <a:schemeClr val="tx1"/>
                </a:solidFill>
              </a:rPr>
              <a:t>Chạy thử, chỉ hiện thay đổi, chưa ghi lên site</a:t>
            </a:r>
            <a:endParaRPr lang="en-US" sz="1400" dirty="0"/>
          </a:p>
        </p:txBody>
      </p:sp>
      <p:sp>
        <p:nvSpPr>
          <p:cNvPr id="19" name="stripe-198"/>
          <p:cNvSpPr/>
          <p:nvPr/>
        </p:nvSpPr>
        <p:spPr>
          <a:xfrm>
            <a:off x="548640" y="5394960"/>
            <a:ext cx="5394960" cy="658368"/>
          </a:xfrm>
          <a:prstGeom prst="rect">
            <a:avLst/>
          </a:prstGeom>
          <a:solidFill>
            <a:schemeClr val="bg2"/>
          </a:solidFill>
          <a:ln/>
        </p:spPr>
      </p:sp>
      <p:sp>
        <p:nvSpPr>
          <p:cNvPr id="20" name="text-199"/>
          <p:cNvSpPr txBox="1"/>
          <p:nvPr/>
        </p:nvSpPr>
        <p:spPr>
          <a:xfrm>
            <a:off x="685800" y="53949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Purge</a:t>
            </a:r>
            <a:endParaRPr lang="en-US" sz="1400" dirty="0"/>
          </a:p>
        </p:txBody>
      </p:sp>
      <p:sp>
        <p:nvSpPr>
          <p:cNvPr id="21" name="text-200"/>
          <p:cNvSpPr txBox="1"/>
          <p:nvPr/>
        </p:nvSpPr>
        <p:spPr>
          <a:xfrm>
            <a:off x="2651760" y="5394960"/>
            <a:ext cx="3200400" cy="658368"/>
          </a:xfrm>
          <a:prstGeom prst="rect">
            <a:avLst/>
          </a:prstGeom>
          <a:noFill/>
          <a:ln/>
        </p:spPr>
        <p:txBody>
          <a:bodyPr wrap="square" lIns="0" tIns="0" rIns="0" bIns="0" rtlCol="0" anchor="ctr"/>
          <a:lstStyle/>
          <a:p>
            <a:pPr indent="0" marL="0">
              <a:buNone/>
            </a:pPr>
            <a:r>
              <a:rPr lang="en-US" sz="1400" dirty="0">
                <a:solidFill>
                  <a:schemeClr val="tx1"/>
                </a:solidFill>
              </a:rPr>
              <a:t>Xóa cache một trang để thay đổi có hiệu lực</a:t>
            </a:r>
            <a:endParaRPr lang="en-US" sz="1400" dirty="0"/>
          </a:p>
        </p:txBody>
      </p:sp>
      <p:sp>
        <p:nvSpPr>
          <p:cNvPr id="22" name="stripe-201"/>
          <p:cNvSpPr/>
          <p:nvPr/>
        </p:nvSpPr>
        <p:spPr>
          <a:xfrm>
            <a:off x="6217920" y="1280160"/>
            <a:ext cx="5394960" cy="658368"/>
          </a:xfrm>
          <a:prstGeom prst="rect">
            <a:avLst/>
          </a:prstGeom>
          <a:solidFill>
            <a:schemeClr val="bg2"/>
          </a:solidFill>
          <a:ln/>
        </p:spPr>
      </p:sp>
      <p:sp>
        <p:nvSpPr>
          <p:cNvPr id="23" name="text-202"/>
          <p:cNvSpPr txBox="1"/>
          <p:nvPr/>
        </p:nvSpPr>
        <p:spPr>
          <a:xfrm>
            <a:off x="6355080" y="12801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VPI</a:t>
            </a:r>
            <a:endParaRPr lang="en-US" sz="1400" dirty="0"/>
          </a:p>
        </p:txBody>
      </p:sp>
      <p:sp>
        <p:nvSpPr>
          <p:cNvPr id="24" name="text-203"/>
          <p:cNvSpPr txBox="1"/>
          <p:nvPr/>
        </p:nvSpPr>
        <p:spPr>
          <a:xfrm>
            <a:off x="8321040" y="1280160"/>
            <a:ext cx="3200400" cy="658368"/>
          </a:xfrm>
          <a:prstGeom prst="rect">
            <a:avLst/>
          </a:prstGeom>
          <a:noFill/>
          <a:ln/>
        </p:spPr>
        <p:txBody>
          <a:bodyPr wrap="square" lIns="0" tIns="0" rIns="0" bIns="0" rtlCol="0" anchor="ctr"/>
          <a:lstStyle/>
          <a:p>
            <a:pPr indent="0" marL="0">
              <a:buNone/>
            </a:pPr>
            <a:r>
              <a:rPr lang="en-US" sz="1400" dirty="0">
                <a:solidFill>
                  <a:schemeClr val="tx1"/>
                </a:solidFill>
              </a:rPr>
              <a:t>Cho ảnh màn hình đầu tải ngay, không chờ lazyload</a:t>
            </a:r>
            <a:endParaRPr lang="en-US" sz="1400" dirty="0"/>
          </a:p>
        </p:txBody>
      </p:sp>
      <p:sp>
        <p:nvSpPr>
          <p:cNvPr id="25" name="text-204"/>
          <p:cNvSpPr txBox="1"/>
          <p:nvPr/>
        </p:nvSpPr>
        <p:spPr>
          <a:xfrm>
            <a:off x="6355080" y="19659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Critical CSS</a:t>
            </a:r>
            <a:endParaRPr lang="en-US" sz="1400" dirty="0"/>
          </a:p>
        </p:txBody>
      </p:sp>
      <p:sp>
        <p:nvSpPr>
          <p:cNvPr id="26" name="text-205"/>
          <p:cNvSpPr txBox="1"/>
          <p:nvPr/>
        </p:nvSpPr>
        <p:spPr>
          <a:xfrm>
            <a:off x="8321040" y="1965960"/>
            <a:ext cx="3200400" cy="658368"/>
          </a:xfrm>
          <a:prstGeom prst="rect">
            <a:avLst/>
          </a:prstGeom>
          <a:noFill/>
          <a:ln/>
        </p:spPr>
        <p:txBody>
          <a:bodyPr wrap="square" lIns="0" tIns="0" rIns="0" bIns="0" rtlCol="0" anchor="ctr"/>
          <a:lstStyle/>
          <a:p>
            <a:pPr indent="0" marL="0">
              <a:buNone/>
            </a:pPr>
            <a:r>
              <a:rPr lang="en-US" sz="1400" dirty="0">
                <a:solidFill>
                  <a:schemeClr val="tx1"/>
                </a:solidFill>
              </a:rPr>
              <a:t>CSS cho màn hình đầu, nhúng sẵn để trang hiện nhanh</a:t>
            </a:r>
            <a:endParaRPr lang="en-US" sz="1400" dirty="0"/>
          </a:p>
        </p:txBody>
      </p:sp>
      <p:sp>
        <p:nvSpPr>
          <p:cNvPr id="27" name="stripe-206"/>
          <p:cNvSpPr/>
          <p:nvPr/>
        </p:nvSpPr>
        <p:spPr>
          <a:xfrm>
            <a:off x="6217920" y="2651760"/>
            <a:ext cx="5394960" cy="658368"/>
          </a:xfrm>
          <a:prstGeom prst="rect">
            <a:avLst/>
          </a:prstGeom>
          <a:solidFill>
            <a:schemeClr val="bg2"/>
          </a:solidFill>
          <a:ln/>
        </p:spPr>
      </p:sp>
      <p:sp>
        <p:nvSpPr>
          <p:cNvPr id="28" name="text-207"/>
          <p:cNvSpPr txBox="1"/>
          <p:nvPr/>
        </p:nvSpPr>
        <p:spPr>
          <a:xfrm>
            <a:off x="6355080" y="26517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Lazyload HTML</a:t>
            </a:r>
            <a:endParaRPr lang="en-US" sz="1400" dirty="0"/>
          </a:p>
        </p:txBody>
      </p:sp>
      <p:sp>
        <p:nvSpPr>
          <p:cNvPr id="29" name="text-208"/>
          <p:cNvSpPr txBox="1"/>
          <p:nvPr/>
        </p:nvSpPr>
        <p:spPr>
          <a:xfrm>
            <a:off x="8321040" y="2651760"/>
            <a:ext cx="3200400" cy="658368"/>
          </a:xfrm>
          <a:prstGeom prst="rect">
            <a:avLst/>
          </a:prstGeom>
          <a:noFill/>
          <a:ln/>
        </p:spPr>
        <p:txBody>
          <a:bodyPr wrap="square" lIns="0" tIns="0" rIns="0" bIns="0" rtlCol="0" anchor="ctr"/>
          <a:lstStyle/>
          <a:p>
            <a:pPr indent="0" marL="0">
              <a:buNone/>
            </a:pPr>
            <a:r>
              <a:rPr lang="en-US" sz="1400" dirty="0">
                <a:solidFill>
                  <a:schemeClr val="tx1"/>
                </a:solidFill>
              </a:rPr>
              <a:t>Hoãn hiển thị khối phía dưới đến khi cuộn gần tới</a:t>
            </a:r>
            <a:endParaRPr lang="en-US" sz="1400" dirty="0"/>
          </a:p>
        </p:txBody>
      </p:sp>
      <p:sp>
        <p:nvSpPr>
          <p:cNvPr id="30" name="text-209"/>
          <p:cNvSpPr txBox="1"/>
          <p:nvPr/>
        </p:nvSpPr>
        <p:spPr>
          <a:xfrm>
            <a:off x="6355080" y="33375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Rollback</a:t>
            </a:r>
            <a:endParaRPr lang="en-US" sz="1400" dirty="0"/>
          </a:p>
        </p:txBody>
      </p:sp>
      <p:sp>
        <p:nvSpPr>
          <p:cNvPr id="31" name="text-210"/>
          <p:cNvSpPr txBox="1"/>
          <p:nvPr/>
        </p:nvSpPr>
        <p:spPr>
          <a:xfrm>
            <a:off x="8321040" y="3337560"/>
            <a:ext cx="3200400" cy="658368"/>
          </a:xfrm>
          <a:prstGeom prst="rect">
            <a:avLst/>
          </a:prstGeom>
          <a:noFill/>
          <a:ln/>
        </p:spPr>
        <p:txBody>
          <a:bodyPr wrap="square" lIns="0" tIns="0" rIns="0" bIns="0" rtlCol="0" anchor="ctr"/>
          <a:lstStyle/>
          <a:p>
            <a:pPr indent="0" marL="0">
              <a:buNone/>
            </a:pPr>
            <a:r>
              <a:rPr lang="en-US" sz="1400" dirty="0">
                <a:solidFill>
                  <a:schemeClr val="tx1"/>
                </a:solidFill>
              </a:rPr>
              <a:t>Hoàn tác thay đổi đã ghi</a:t>
            </a:r>
            <a:endParaRPr lang="en-US" sz="1400" dirty="0"/>
          </a:p>
        </p:txBody>
      </p:sp>
      <p:sp>
        <p:nvSpPr>
          <p:cNvPr id="32" name="stripe-211"/>
          <p:cNvSpPr/>
          <p:nvPr/>
        </p:nvSpPr>
        <p:spPr>
          <a:xfrm>
            <a:off x="6217920" y="4023360"/>
            <a:ext cx="5394960" cy="658368"/>
          </a:xfrm>
          <a:prstGeom prst="rect">
            <a:avLst/>
          </a:prstGeom>
          <a:solidFill>
            <a:schemeClr val="bg2"/>
          </a:solidFill>
          <a:ln/>
        </p:spPr>
      </p:sp>
      <p:sp>
        <p:nvSpPr>
          <p:cNvPr id="33" name="text-212"/>
          <p:cNvSpPr txBox="1"/>
          <p:nvPr/>
        </p:nvSpPr>
        <p:spPr>
          <a:xfrm>
            <a:off x="6355080" y="40233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proposed · applied · skipped</a:t>
            </a:r>
            <a:endParaRPr lang="en-US" sz="1400" dirty="0"/>
          </a:p>
        </p:txBody>
      </p:sp>
      <p:sp>
        <p:nvSpPr>
          <p:cNvPr id="34" name="text-213"/>
          <p:cNvSpPr txBox="1"/>
          <p:nvPr/>
        </p:nvSpPr>
        <p:spPr>
          <a:xfrm>
            <a:off x="8321040" y="4023360"/>
            <a:ext cx="3200400" cy="658368"/>
          </a:xfrm>
          <a:prstGeom prst="rect">
            <a:avLst/>
          </a:prstGeom>
          <a:noFill/>
          <a:ln/>
        </p:spPr>
        <p:txBody>
          <a:bodyPr wrap="square" lIns="0" tIns="0" rIns="0" bIns="0" rtlCol="0" anchor="ctr"/>
          <a:lstStyle/>
          <a:p>
            <a:pPr indent="0" marL="0">
              <a:buNone/>
            </a:pPr>
            <a:r>
              <a:rPr lang="en-US" sz="1400" dirty="0">
                <a:solidFill>
                  <a:schemeClr val="tx1"/>
                </a:solidFill>
              </a:rPr>
              <a:t>Chờ duyệt · đã ghi lên site · bạn đã bỏ</a:t>
            </a:r>
            <a:endParaRPr lang="en-US" sz="1400" dirty="0"/>
          </a:p>
        </p:txBody>
      </p:sp>
      <p:sp>
        <p:nvSpPr>
          <p:cNvPr id="35" name="text-214"/>
          <p:cNvSpPr txBox="1"/>
          <p:nvPr/>
        </p:nvSpPr>
        <p:spPr>
          <a:xfrm>
            <a:off x="6355080" y="47091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suggestion · ngoài phạm vi</a:t>
            </a:r>
            <a:endParaRPr lang="en-US" sz="1400" dirty="0"/>
          </a:p>
        </p:txBody>
      </p:sp>
      <p:sp>
        <p:nvSpPr>
          <p:cNvPr id="36" name="text-215"/>
          <p:cNvSpPr txBox="1"/>
          <p:nvPr/>
        </p:nvSpPr>
        <p:spPr>
          <a:xfrm>
            <a:off x="8321040" y="4709160"/>
            <a:ext cx="3200400" cy="658368"/>
          </a:xfrm>
          <a:prstGeom prst="rect">
            <a:avLst/>
          </a:prstGeom>
          <a:noFill/>
          <a:ln/>
        </p:spPr>
        <p:txBody>
          <a:bodyPr wrap="square" lIns="0" tIns="0" rIns="0" bIns="0" rtlCol="0" anchor="ctr"/>
          <a:lstStyle/>
          <a:p>
            <a:pPr indent="0" marL="0">
              <a:buNone/>
            </a:pPr>
            <a:r>
              <a:rPr lang="en-US" sz="1400" dirty="0">
                <a:solidFill>
                  <a:schemeClr val="tx1"/>
                </a:solidFill>
              </a:rPr>
              <a:t>Bạn tự làm · plugin không xử lý được</a:t>
            </a:r>
            <a:endParaRPr lang="en-US" sz="1400" dirty="0"/>
          </a:p>
        </p:txBody>
      </p:sp>
      <p:sp>
        <p:nvSpPr>
          <p:cNvPr id="37" name="stripe-216"/>
          <p:cNvSpPr/>
          <p:nvPr/>
        </p:nvSpPr>
        <p:spPr>
          <a:xfrm>
            <a:off x="6217920" y="5394960"/>
            <a:ext cx="5394960" cy="658368"/>
          </a:xfrm>
          <a:prstGeom prst="rect">
            <a:avLst/>
          </a:prstGeom>
          <a:solidFill>
            <a:schemeClr val="bg2"/>
          </a:solidFill>
          <a:ln/>
        </p:spPr>
      </p:sp>
      <p:sp>
        <p:nvSpPr>
          <p:cNvPr id="38" name="text-217"/>
          <p:cNvSpPr txBox="1"/>
          <p:nvPr/>
        </p:nvSpPr>
        <p:spPr>
          <a:xfrm>
            <a:off x="6355080" y="5394960"/>
            <a:ext cx="1874520" cy="658368"/>
          </a:xfrm>
          <a:prstGeom prst="rect">
            <a:avLst/>
          </a:prstGeom>
          <a:noFill/>
          <a:ln/>
        </p:spPr>
        <p:txBody>
          <a:bodyPr wrap="square" lIns="0" tIns="0" rIns="0" bIns="0" rtlCol="0" anchor="ctr"/>
          <a:lstStyle/>
          <a:p>
            <a:pPr indent="0" marL="0">
              <a:buNone/>
            </a:pPr>
            <a:r>
              <a:rPr lang="en-US" sz="1400" b="1" dirty="0">
                <a:solidFill>
                  <a:schemeClr val="accent1"/>
                </a:solidFill>
              </a:rPr>
              <a:t>cần plugin</a:t>
            </a:r>
            <a:endParaRPr lang="en-US" sz="1400" dirty="0"/>
          </a:p>
        </p:txBody>
      </p:sp>
      <p:sp>
        <p:nvSpPr>
          <p:cNvPr id="39" name="text-218"/>
          <p:cNvSpPr txBox="1"/>
          <p:nvPr/>
        </p:nvSpPr>
        <p:spPr>
          <a:xfrm>
            <a:off x="8321040" y="5394960"/>
            <a:ext cx="3200400" cy="658368"/>
          </a:xfrm>
          <a:prstGeom prst="rect">
            <a:avLst/>
          </a:prstGeom>
          <a:noFill/>
          <a:ln/>
        </p:spPr>
        <p:txBody>
          <a:bodyPr wrap="square" lIns="0" tIns="0" rIns="0" bIns="0" rtlCol="0" anchor="ctr"/>
          <a:lstStyle/>
          <a:p>
            <a:pPr indent="0" marL="0">
              <a:buNone/>
            </a:pPr>
            <a:r>
              <a:rPr lang="en-US" sz="1400" dirty="0">
                <a:solidFill>
                  <a:schemeClr val="tx1"/>
                </a:solidFill>
              </a:rPr>
              <a:t>Việc plugin làm được sau khi cài lên site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2000" b="1" dirty="0">
                <a:solidFill>
                  <a:schemeClr val="accent6"/>
                </a:solidFill>
              </a:rPr>
              <a:t>Tóm lại</a:t>
            </a:r>
            <a:endParaRPr lang="en-US" sz="2000" dirty="0"/>
          </a:p>
        </p:txBody>
      </p:sp>
      <p:sp>
        <p:nvSpPr>
          <p:cNvPr id="3" name="Text 0"/>
          <p:cNvSpPr/>
          <p:nvPr>
            <p:ph idx="101" type="title" hasCustomPrompt="1"/>
          </p:nvPr>
        </p:nvSpPr>
        <p:spPr>
          <a:xfrm>
            <a:off x="731520" y="2286000"/>
            <a:ext cx="7315200" cy="1188720"/>
          </a:xfrm>
          <a:prstGeom prst="rect">
            <a:avLst/>
          </a:prstGeom>
          <a:noFill/>
          <a:ln/>
        </p:spPr>
        <p:txBody>
          <a:bodyPr wrap="square" lIns="0" tIns="0" rIns="0" bIns="0" rtlCol="0" anchor="t"/>
          <a:lstStyle/>
          <a:p>
            <a:pPr algn="l" indent="0" marL="0">
              <a:buNone/>
            </a:pPr>
            <a:r>
              <a:rPr lang="en-US" sz="4400" b="1" dirty="0">
                <a:solidFill>
                  <a:schemeClr val="bg1"/>
                </a:solidFill>
              </a:rPr>
              <a:t>Gửi link là bắt đầu</a:t>
            </a:r>
            <a:endParaRPr lang="en-US" sz="4400" dirty="0"/>
          </a:p>
        </p:txBody>
      </p:sp>
      <p:sp>
        <p:nvSpPr>
          <p:cNvPr id="4" name="badge-219"/>
          <p:cNvSpPr/>
          <p:nvPr/>
        </p:nvSpPr>
        <p:spPr>
          <a:xfrm>
            <a:off x="731520" y="379476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5" name="chip-220"/>
          <p:cNvSpPr/>
          <p:nvPr/>
        </p:nvSpPr>
        <p:spPr>
          <a:xfrm>
            <a:off x="1554480" y="3822192"/>
            <a:ext cx="2148840" cy="548640"/>
          </a:xfrm>
          <a:prstGeom prst="roundRect">
            <a:avLst>
              <a:gd name="adj" fmla="val 16667"/>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2"/>
                </a:solidFill>
              </a:rPr>
              <a:t>Gửi link</a:t>
            </a:r>
            <a:endParaRPr lang="en-US" sz="1500" dirty="0"/>
          </a:p>
        </p:txBody>
      </p:sp>
      <p:sp>
        <p:nvSpPr>
          <p:cNvPr id="6" name="text-221"/>
          <p:cNvSpPr txBox="1"/>
          <p:nvPr/>
        </p:nvSpPr>
        <p:spPr>
          <a:xfrm>
            <a:off x="3730752" y="3822192"/>
            <a:ext cx="320040" cy="54864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7" name="chip-222"/>
          <p:cNvSpPr/>
          <p:nvPr/>
        </p:nvSpPr>
        <p:spPr>
          <a:xfrm>
            <a:off x="4069080" y="3822192"/>
            <a:ext cx="2148840" cy="548640"/>
          </a:xfrm>
          <a:prstGeom prst="roundRect">
            <a:avLst>
              <a:gd name="adj" fmla="val 16667"/>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2"/>
                </a:solidFill>
              </a:rPr>
              <a:t>Nhận báo cáo</a:t>
            </a:r>
            <a:endParaRPr lang="en-US" sz="1500" dirty="0"/>
          </a:p>
        </p:txBody>
      </p:sp>
      <p:sp>
        <p:nvSpPr>
          <p:cNvPr id="8" name="badge-223"/>
          <p:cNvSpPr/>
          <p:nvPr/>
        </p:nvSpPr>
        <p:spPr>
          <a:xfrm>
            <a:off x="731520" y="466344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9" name="chip-224"/>
          <p:cNvSpPr/>
          <p:nvPr/>
        </p:nvSpPr>
        <p:spPr>
          <a:xfrm>
            <a:off x="1554480" y="4690872"/>
            <a:ext cx="2148840" cy="548640"/>
          </a:xfrm>
          <a:prstGeom prst="roundRect">
            <a:avLst>
              <a:gd name="adj" fmla="val 16667"/>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2"/>
                </a:solidFill>
              </a:rPr>
              <a:t>Gửi link</a:t>
            </a:r>
            <a:endParaRPr lang="en-US" sz="1500" dirty="0"/>
          </a:p>
        </p:txBody>
      </p:sp>
      <p:sp>
        <p:nvSpPr>
          <p:cNvPr id="10" name="text-225"/>
          <p:cNvSpPr txBox="1"/>
          <p:nvPr/>
        </p:nvSpPr>
        <p:spPr>
          <a:xfrm>
            <a:off x="3730752" y="4690872"/>
            <a:ext cx="320040" cy="54864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11" name="chip-226"/>
          <p:cNvSpPr/>
          <p:nvPr/>
        </p:nvSpPr>
        <p:spPr>
          <a:xfrm>
            <a:off x="4069080" y="4690872"/>
            <a:ext cx="2148840" cy="548640"/>
          </a:xfrm>
          <a:prstGeom prst="roundRect">
            <a:avLst>
              <a:gd name="adj" fmla="val 16667"/>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2"/>
                </a:solidFill>
              </a:rPr>
              <a:t>Cài plugin</a:t>
            </a:r>
            <a:endParaRPr lang="en-US" sz="1500" dirty="0"/>
          </a:p>
        </p:txBody>
      </p:sp>
      <p:sp>
        <p:nvSpPr>
          <p:cNvPr id="12" name="text-227"/>
          <p:cNvSpPr txBox="1"/>
          <p:nvPr/>
        </p:nvSpPr>
        <p:spPr>
          <a:xfrm>
            <a:off x="6245352" y="4690872"/>
            <a:ext cx="320040" cy="54864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13" name="chip-228"/>
          <p:cNvSpPr/>
          <p:nvPr/>
        </p:nvSpPr>
        <p:spPr>
          <a:xfrm>
            <a:off x="6583680" y="4690872"/>
            <a:ext cx="2148840" cy="548640"/>
          </a:xfrm>
          <a:prstGeom prst="roundRect">
            <a:avLst>
              <a:gd name="adj" fmla="val 16667"/>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2"/>
                </a:solidFill>
              </a:rPr>
              <a:t>Chọn và duyệt</a:t>
            </a:r>
            <a:endParaRPr lang="en-US" sz="1500" dirty="0"/>
          </a:p>
        </p:txBody>
      </p:sp>
      <p:sp>
        <p:nvSpPr>
          <p:cNvPr id="14" name="text-229"/>
          <p:cNvSpPr txBox="1"/>
          <p:nvPr/>
        </p:nvSpPr>
        <p:spPr>
          <a:xfrm>
            <a:off x="8759952" y="4690872"/>
            <a:ext cx="320040" cy="54864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15" name="chip-230"/>
          <p:cNvSpPr/>
          <p:nvPr/>
        </p:nvSpPr>
        <p:spPr>
          <a:xfrm>
            <a:off x="9098280" y="4690872"/>
            <a:ext cx="2148840" cy="548640"/>
          </a:xfrm>
          <a:prstGeom prst="roundRect">
            <a:avLst>
              <a:gd name="adj" fmla="val 16667"/>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2"/>
                </a:solidFill>
              </a:rPr>
              <a:t>Nghiệm thu</a:t>
            </a:r>
            <a:endParaRPr lang="en-US" sz="1500" dirty="0"/>
          </a:p>
        </p:txBody>
      </p:sp>
      <p:sp>
        <p:nvSpPr>
          <p:cNvPr id="16" name="text-231"/>
          <p:cNvSpPr txBox="1"/>
          <p:nvPr/>
        </p:nvSpPr>
        <p:spPr>
          <a:xfrm>
            <a:off x="731520" y="5760720"/>
            <a:ext cx="10058400" cy="457200"/>
          </a:xfrm>
          <a:prstGeom prst="rect">
            <a:avLst/>
          </a:prstGeom>
          <a:noFill/>
          <a:ln/>
        </p:spPr>
        <p:txBody>
          <a:bodyPr wrap="square" lIns="0" tIns="0" rIns="0" bIns="0" rtlCol="0" anchor="t"/>
          <a:lstStyle/>
          <a:p>
            <a:pPr indent="0" marL="0">
              <a:buNone/>
            </a:pPr>
            <a:r>
              <a:rPr lang="en-US" sz="1800" i="1" dirty="0">
                <a:solidFill>
                  <a:schemeClr val="accent6"/>
                </a:solidFill>
              </a:rPr>
              <a:t>Agent không ghi gì lên site khi bạn chưa xác nhận.</a:t>
            </a:r>
            <a:endParaRPr lang="en-US" sz="1800" dirty="0"/>
          </a:p>
        </p:txBody>
      </p:sp>
      <p:sp>
        <p:nvSpPr>
          <p:cNvPr id="18" name="Text 0"/>
          <p:cNvSpPr/>
          <p:nvPr>
            <p:ph idx="102" type="body" hasCustomPrompt="1"/>
          </p:nvPr>
        </p:nvSpPr>
        <p:spPr>
          <a:xfrm>
            <a:off x="731520" y="3657600"/>
            <a:ext cx="6949440" cy="137160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Bước 4. Kiểm tra lại và nghiệm thu</a:t>
            </a:r>
            <a:endParaRPr lang="en-US" sz="3200" dirty="0"/>
          </a:p>
        </p:txBody>
      </p:sp>
      <p:sp>
        <p:nvSpPr>
          <p:cNvPr id="4" name="card-45"/>
          <p:cNvSpPr/>
          <p:nvPr/>
        </p:nvSpPr>
        <p:spPr>
          <a:xfrm>
            <a:off x="548640" y="1371600"/>
            <a:ext cx="3108960" cy="3291840"/>
          </a:xfrm>
          <a:prstGeom prst="roundRect">
            <a:avLst>
              <a:gd name="adj" fmla="val 3529"/>
            </a:avLst>
          </a:prstGeom>
          <a:solidFill>
            <a:schemeClr val="bg2"/>
          </a:solidFill>
          <a:ln/>
        </p:spPr>
      </p:sp>
      <p:sp>
        <p:nvSpPr>
          <p:cNvPr id="5" name="badge-46"/>
          <p:cNvSpPr/>
          <p:nvPr/>
        </p:nvSpPr>
        <p:spPr>
          <a:xfrm>
            <a:off x="822960" y="16459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text-47"/>
          <p:cNvSpPr txBox="1"/>
          <p:nvPr/>
        </p:nvSpPr>
        <p:spPr>
          <a:xfrm>
            <a:off x="822960" y="2423160"/>
            <a:ext cx="2560320" cy="502920"/>
          </a:xfrm>
          <a:prstGeom prst="rect">
            <a:avLst/>
          </a:prstGeom>
          <a:noFill/>
          <a:ln/>
        </p:spPr>
        <p:txBody>
          <a:bodyPr wrap="square" lIns="0" tIns="0" rIns="0" bIns="0" rtlCol="0" anchor="t"/>
          <a:lstStyle/>
          <a:p>
            <a:pPr indent="0" marL="0">
              <a:buNone/>
            </a:pPr>
            <a:r>
              <a:rPr lang="en-US" sz="2000" b="1" dirty="0">
                <a:solidFill>
                  <a:schemeClr val="tx2"/>
                </a:solidFill>
              </a:rPr>
              <a:t>Điểm (Point)</a:t>
            </a:r>
            <a:endParaRPr lang="en-US" sz="2000" dirty="0"/>
          </a:p>
        </p:txBody>
      </p:sp>
      <p:sp>
        <p:nvSpPr>
          <p:cNvPr id="7" name="text-48"/>
          <p:cNvSpPr txBox="1"/>
          <p:nvPr/>
        </p:nvSpPr>
        <p:spPr>
          <a:xfrm>
            <a:off x="822960" y="2971800"/>
            <a:ext cx="2560320" cy="1600200"/>
          </a:xfrm>
          <a:prstGeom prst="rect">
            <a:avLst/>
          </a:prstGeom>
          <a:noFill/>
          <a:ln/>
        </p:spPr>
        <p:txBody>
          <a:bodyPr wrap="square" lIns="0" tIns="0" rIns="0" bIns="0" rtlCol="0" anchor="t"/>
          <a:lstStyle/>
          <a:p>
            <a:pPr indent="0" marL="0">
              <a:buNone/>
            </a:pPr>
            <a:r>
              <a:rPr lang="en-US" sz="1500" dirty="0">
                <a:solidFill>
                  <a:schemeClr val="tx1"/>
                </a:solidFill>
              </a:rPr>
              <a:t>Agent đo lại điểm PageSpeed mobile và desktop sau mỗi lần tối ưu, mỗi link 3 lần, lấy số giữa. Chênh lệch nhỏ coi như không đổi.</a:t>
            </a:r>
            <a:pPr indent="0" marL="0">
              <a:buNone/>
            </a:pPr>
            <a:r>
              <a:rPr lang="en-US" sz="1500" dirty="0">
                <a:solidFill>
                  <a:schemeClr val="tx1"/>
                </a:solidFill>
                <a:latin typeface="Courier New" pitchFamily="34" charset="0"/>
                <a:ea typeface="Courier New" pitchFamily="34" charset="-122"/>
                <a:cs typeface="Courier New" pitchFamily="34" charset="-120"/>
              </a:rPr>
              <a:t/>
            </a:r>
            <a:pPr indent="0" marL="0">
              <a:buNone/>
            </a:pPr>
            <a:r>
              <a:rPr lang="en-US" sz="1500" dirty="0">
                <a:solidFill>
                  <a:schemeClr val="tx1"/>
                </a:solidFill>
              </a:rPr>
              <a:t/>
            </a:r>
            <a:endParaRPr lang="en-US" sz="1500" dirty="0"/>
          </a:p>
        </p:txBody>
      </p:sp>
      <p:sp>
        <p:nvSpPr>
          <p:cNvPr id="8" name="arrow-49"/>
          <p:cNvSpPr/>
          <p:nvPr/>
        </p:nvSpPr>
        <p:spPr>
          <a:xfrm>
            <a:off x="3858768" y="2743200"/>
            <a:ext cx="457200" cy="548640"/>
          </a:xfrm>
          <a:prstGeom prst="chevron">
            <a:avLst/>
          </a:prstGeom>
          <a:solidFill>
            <a:schemeClr val="accent6"/>
          </a:solidFill>
          <a:ln w="12700">
            <a:solidFill>
              <a:schemeClr val="accent6"/>
            </a:solidFill>
            <a:prstDash val="solid"/>
          </a:ln>
        </p:spPr>
      </p:sp>
      <p:sp>
        <p:nvSpPr>
          <p:cNvPr id="9" name="card-50"/>
          <p:cNvSpPr/>
          <p:nvPr/>
        </p:nvSpPr>
        <p:spPr>
          <a:xfrm>
            <a:off x="4526280" y="1371600"/>
            <a:ext cx="3108960" cy="3291840"/>
          </a:xfrm>
          <a:prstGeom prst="roundRect">
            <a:avLst>
              <a:gd name="adj" fmla="val 3529"/>
            </a:avLst>
          </a:prstGeom>
          <a:solidFill>
            <a:schemeClr val="bg2"/>
          </a:solidFill>
          <a:ln/>
        </p:spPr>
      </p:sp>
      <p:sp>
        <p:nvSpPr>
          <p:cNvPr id="10" name="badge-51"/>
          <p:cNvSpPr/>
          <p:nvPr/>
        </p:nvSpPr>
        <p:spPr>
          <a:xfrm>
            <a:off x="4800600" y="16459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text-52"/>
          <p:cNvSpPr txBox="1"/>
          <p:nvPr/>
        </p:nvSpPr>
        <p:spPr>
          <a:xfrm>
            <a:off x="4800600" y="2423160"/>
            <a:ext cx="2560320" cy="502920"/>
          </a:xfrm>
          <a:prstGeom prst="rect">
            <a:avLst/>
          </a:prstGeom>
          <a:noFill/>
          <a:ln/>
        </p:spPr>
        <p:txBody>
          <a:bodyPr wrap="square" lIns="0" tIns="0" rIns="0" bIns="0" rtlCol="0" anchor="t"/>
          <a:lstStyle/>
          <a:p>
            <a:pPr indent="0" marL="0">
              <a:buNone/>
            </a:pPr>
            <a:r>
              <a:rPr lang="en-US" sz="2000" b="1" dirty="0">
                <a:solidFill>
                  <a:schemeClr val="tx2"/>
                </a:solidFill>
              </a:rPr>
              <a:t>Site health</a:t>
            </a:r>
            <a:endParaRPr lang="en-US" sz="2000" dirty="0"/>
          </a:p>
        </p:txBody>
      </p:sp>
      <p:sp>
        <p:nvSpPr>
          <p:cNvPr id="12" name="text-53"/>
          <p:cNvSpPr txBox="1"/>
          <p:nvPr/>
        </p:nvSpPr>
        <p:spPr>
          <a:xfrm>
            <a:off x="4800600" y="2971800"/>
            <a:ext cx="2560320" cy="1600200"/>
          </a:xfrm>
          <a:prstGeom prst="rect">
            <a:avLst/>
          </a:prstGeom>
          <a:noFill/>
          <a:ln/>
        </p:spPr>
        <p:txBody>
          <a:bodyPr wrap="square" lIns="0" tIns="0" rIns="0" bIns="0" rtlCol="0" anchor="t"/>
          <a:lstStyle/>
          <a:p>
            <a:pPr indent="0" marL="0">
              <a:buNone/>
            </a:pPr>
            <a:r>
              <a:rPr lang="en-US" sz="1500" dirty="0">
                <a:solidFill>
                  <a:schemeClr val="tx1"/>
                </a:solidFill>
              </a:rPr>
              <a:t>Mở trang bằng cửa sổ ẩn danh: tốc độ, ảnh, bố cục, menu có lỗi không.</a:t>
            </a:r>
            <a:endParaRPr lang="en-US" sz="1500" dirty="0"/>
          </a:p>
        </p:txBody>
      </p:sp>
      <p:sp>
        <p:nvSpPr>
          <p:cNvPr id="13" name="arrow-54"/>
          <p:cNvSpPr/>
          <p:nvPr/>
        </p:nvSpPr>
        <p:spPr>
          <a:xfrm>
            <a:off x="7836408" y="2743200"/>
            <a:ext cx="457200" cy="548640"/>
          </a:xfrm>
          <a:prstGeom prst="chevron">
            <a:avLst/>
          </a:prstGeom>
          <a:solidFill>
            <a:schemeClr val="accent6"/>
          </a:solidFill>
          <a:ln w="12700">
            <a:solidFill>
              <a:schemeClr val="accent6"/>
            </a:solidFill>
            <a:prstDash val="solid"/>
          </a:ln>
        </p:spPr>
      </p:sp>
      <p:sp>
        <p:nvSpPr>
          <p:cNvPr id="14" name="card-55"/>
          <p:cNvSpPr/>
          <p:nvPr/>
        </p:nvSpPr>
        <p:spPr>
          <a:xfrm>
            <a:off x="8503920" y="1371600"/>
            <a:ext cx="3108960" cy="3291840"/>
          </a:xfrm>
          <a:prstGeom prst="roundRect">
            <a:avLst>
              <a:gd name="adj" fmla="val 3529"/>
            </a:avLst>
          </a:prstGeom>
          <a:solidFill>
            <a:schemeClr val="bg2"/>
          </a:solidFill>
          <a:ln/>
        </p:spPr>
      </p:sp>
      <p:sp>
        <p:nvSpPr>
          <p:cNvPr id="15" name="badge-56"/>
          <p:cNvSpPr/>
          <p:nvPr/>
        </p:nvSpPr>
        <p:spPr>
          <a:xfrm>
            <a:off x="8778240" y="16459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6" name="text-57"/>
          <p:cNvSpPr txBox="1"/>
          <p:nvPr/>
        </p:nvSpPr>
        <p:spPr>
          <a:xfrm>
            <a:off x="8778240" y="2423160"/>
            <a:ext cx="2560320" cy="502920"/>
          </a:xfrm>
          <a:prstGeom prst="rect">
            <a:avLst/>
          </a:prstGeom>
          <a:noFill/>
          <a:ln/>
        </p:spPr>
        <p:txBody>
          <a:bodyPr wrap="square" lIns="0" tIns="0" rIns="0" bIns="0" rtlCol="0" anchor="t"/>
          <a:lstStyle/>
          <a:p>
            <a:pPr indent="0" marL="0">
              <a:buNone/>
            </a:pPr>
            <a:r>
              <a:rPr lang="en-US" sz="2000" b="1" dirty="0">
                <a:solidFill>
                  <a:schemeClr val="tx2"/>
                </a:solidFill>
              </a:rPr>
              <a:t>Nghiệm thu</a:t>
            </a:r>
            <a:endParaRPr lang="en-US" sz="2000" dirty="0"/>
          </a:p>
        </p:txBody>
      </p:sp>
      <p:sp>
        <p:nvSpPr>
          <p:cNvPr id="17" name="text-58"/>
          <p:cNvSpPr txBox="1"/>
          <p:nvPr/>
        </p:nvSpPr>
        <p:spPr>
          <a:xfrm>
            <a:off x="8778240" y="2971800"/>
            <a:ext cx="2560320" cy="1600200"/>
          </a:xfrm>
          <a:prstGeom prst="rect">
            <a:avLst/>
          </a:prstGeom>
          <a:noFill/>
          <a:ln/>
        </p:spPr>
        <p:txBody>
          <a:bodyPr wrap="square" lIns="0" tIns="0" rIns="0" bIns="0" rtlCol="0" anchor="t"/>
          <a:lstStyle/>
          <a:p>
            <a:pPr indent="0" marL="0">
              <a:buNone/>
            </a:pPr>
            <a:r>
              <a:rPr lang="en-US" sz="1500" dirty="0">
                <a:solidFill>
                  <a:schemeClr val="tx1"/>
                </a:solidFill>
              </a:rPr>
              <a:t>Đạt thì đo điểm cuối, tạo báo cáo kết quả và đề xuất bổ sung.</a:t>
            </a:r>
            <a:pPr indent="0" marL="0">
              <a:buNone/>
            </a:pPr>
            <a:r>
              <a:rPr lang="en-US" sz="1500" dirty="0">
                <a:solidFill>
                  <a:schemeClr val="tx1"/>
                </a:solidFill>
                <a:latin typeface="Courier New" pitchFamily="34" charset="0"/>
                <a:ea typeface="Courier New" pitchFamily="34" charset="-122"/>
                <a:cs typeface="Courier New" pitchFamily="34" charset="-120"/>
              </a:rPr>
              <a:t/>
            </a:r>
            <a:pPr indent="0" marL="0">
              <a:buNone/>
            </a:pPr>
            <a:r>
              <a:rPr lang="en-US" sz="1500" dirty="0">
                <a:solidFill>
                  <a:schemeClr val="tx1"/>
                </a:solidFill>
              </a:rPr>
              <a:t/>
            </a:r>
            <a:endParaRPr lang="en-US" sz="1500" dirty="0"/>
          </a:p>
        </p:txBody>
      </p:sp>
      <p:sp>
        <p:nvSpPr>
          <p:cNvPr id="18" name="card-59"/>
          <p:cNvSpPr/>
          <p:nvPr/>
        </p:nvSpPr>
        <p:spPr>
          <a:xfrm>
            <a:off x="548640" y="4937760"/>
            <a:ext cx="11064240" cy="1097280"/>
          </a:xfrm>
          <a:prstGeom prst="roundRect">
            <a:avLst>
              <a:gd name="adj" fmla="val 10000"/>
            </a:avLst>
          </a:prstGeom>
          <a:solidFill>
            <a:schemeClr val="bg2"/>
          </a:solidFill>
          <a:ln/>
        </p:spPr>
      </p:sp>
      <p:sp>
        <p:nvSpPr>
          <p:cNvPr id="19" name="text-60"/>
          <p:cNvSpPr txBox="1"/>
          <p:nvPr/>
        </p:nvSpPr>
        <p:spPr>
          <a:xfrm>
            <a:off x="822960" y="4937760"/>
            <a:ext cx="10515600" cy="1097280"/>
          </a:xfrm>
          <a:prstGeom prst="rect">
            <a:avLst/>
          </a:prstGeom>
          <a:noFill/>
          <a:ln/>
        </p:spPr>
        <p:txBody>
          <a:bodyPr wrap="square" lIns="0" tIns="0" rIns="0" bIns="0" rtlCol="0" anchor="ctr"/>
          <a:lstStyle/>
          <a:p>
            <a:pPr indent="0" marL="0">
              <a:buNone/>
            </a:pPr>
            <a:r>
              <a:rPr lang="en-US" sz="1500" dirty="0">
                <a:solidFill>
                  <a:schemeClr val="tx1"/>
                </a:solidFill>
              </a:rPr>
              <a:t>Agent kết thúc ở đây. Bước 5 của bạn: đổi sang plugin lite (hướng dẫn cập nhật sau).</a:t>
            </a:r>
            <a:pPr indent="0" marL="0">
              <a:buNone/>
            </a:pPr>
            <a:r>
              <a:rPr lang="en-US" sz="1500" dirty="0">
                <a:solidFill>
                  <a:schemeClr val="tx1"/>
                </a:solidFill>
                <a:latin typeface="Courier New" pitchFamily="34" charset="0"/>
                <a:ea typeface="Courier New" pitchFamily="34" charset="-122"/>
                <a:cs typeface="Courier New" pitchFamily="34" charset="-120"/>
              </a:rPr>
              <a:t/>
            </a:r>
            <a:pPr indent="0" marL="0">
              <a:buNone/>
            </a:pPr>
            <a:r>
              <a:rPr lang="en-US" sz="1500" dirty="0">
                <a:solidFill>
                  <a:schemeClr val="tx1"/>
                </a:solidFill>
              </a:rPr>
              <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Thay ảnh nặng: agent giúp được</a:t>
            </a:r>
            <a:endParaRPr lang="en-US" sz="3200" dirty="0"/>
          </a:p>
        </p:txBody>
      </p:sp>
      <p:sp>
        <p:nvSpPr>
          <p:cNvPr id="4" name="card-153"/>
          <p:cNvSpPr/>
          <p:nvPr/>
        </p:nvSpPr>
        <p:spPr>
          <a:xfrm>
            <a:off x="548640" y="1371600"/>
            <a:ext cx="5394960" cy="1645920"/>
          </a:xfrm>
          <a:prstGeom prst="roundRect">
            <a:avLst>
              <a:gd name="adj" fmla="val 6667"/>
            </a:avLst>
          </a:prstGeom>
          <a:solidFill>
            <a:schemeClr val="bg2"/>
          </a:solidFill>
          <a:ln/>
        </p:spPr>
      </p:sp>
      <p:sp>
        <p:nvSpPr>
          <p:cNvPr id="5" name="badge-154"/>
          <p:cNvSpPr/>
          <p:nvPr/>
        </p:nvSpPr>
        <p:spPr>
          <a:xfrm>
            <a:off x="822960" y="1645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155"/>
          <p:cNvSpPr txBox="1"/>
          <p:nvPr/>
        </p:nvSpPr>
        <p:spPr>
          <a:xfrm>
            <a:off x="1600200" y="164592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Nén sẵn</a:t>
            </a:r>
            <a:endParaRPr lang="en-US" sz="1800" dirty="0"/>
          </a:p>
        </p:txBody>
      </p:sp>
      <p:sp>
        <p:nvSpPr>
          <p:cNvPr id="7" name="text-156"/>
          <p:cNvSpPr txBox="1"/>
          <p:nvPr/>
        </p:nvSpPr>
        <p:spPr>
          <a:xfrm>
            <a:off x="1600200" y="2194560"/>
            <a:ext cx="4114800" cy="731520"/>
          </a:xfrm>
          <a:prstGeom prst="rect">
            <a:avLst/>
          </a:prstGeom>
          <a:noFill/>
          <a:ln/>
        </p:spPr>
        <p:txBody>
          <a:bodyPr wrap="square" lIns="0" tIns="0" rIns="0" bIns="0" rtlCol="0" anchor="t"/>
          <a:lstStyle/>
          <a:p>
            <a:pPr indent="0" marL="0">
              <a:buNone/>
            </a:pPr>
            <a:r>
              <a:rPr lang="en-US" sz="1500" dirty="0">
                <a:solidFill>
                  <a:schemeClr val="tx1"/>
                </a:solidFill>
              </a:rPr>
              <a:t>Nhắn Nén ảnh của link 1. Agent nén WebP đúng khung hiển thị vào thư mục anh-toi-uu. Không cần tài khoản.</a:t>
            </a:r>
            <a:endParaRPr lang="en-US" sz="1500" dirty="0"/>
          </a:p>
        </p:txBody>
      </p:sp>
      <p:sp>
        <p:nvSpPr>
          <p:cNvPr id="8" name="card-157"/>
          <p:cNvSpPr/>
          <p:nvPr/>
        </p:nvSpPr>
        <p:spPr>
          <a:xfrm>
            <a:off x="6217920" y="1371600"/>
            <a:ext cx="5394960" cy="1645920"/>
          </a:xfrm>
          <a:prstGeom prst="roundRect">
            <a:avLst>
              <a:gd name="adj" fmla="val 6667"/>
            </a:avLst>
          </a:prstGeom>
          <a:solidFill>
            <a:schemeClr val="bg2"/>
          </a:solidFill>
          <a:ln/>
        </p:spPr>
      </p:sp>
      <p:sp>
        <p:nvSpPr>
          <p:cNvPr id="9" name="badge-158"/>
          <p:cNvSpPr/>
          <p:nvPr/>
        </p:nvSpPr>
        <p:spPr>
          <a:xfrm>
            <a:off x="6492240" y="1645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159"/>
          <p:cNvSpPr txBox="1"/>
          <p:nvPr/>
        </p:nvSpPr>
        <p:spPr>
          <a:xfrm>
            <a:off x="7269480" y="164592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Thay trên site</a:t>
            </a:r>
            <a:endParaRPr lang="en-US" sz="1800" dirty="0"/>
          </a:p>
        </p:txBody>
      </p:sp>
      <p:sp>
        <p:nvSpPr>
          <p:cNvPr id="11" name="text-160"/>
          <p:cNvSpPr txBox="1"/>
          <p:nvPr/>
        </p:nvSpPr>
        <p:spPr>
          <a:xfrm>
            <a:off x="7269480" y="2194560"/>
            <a:ext cx="4114800" cy="731520"/>
          </a:xfrm>
          <a:prstGeom prst="rect">
            <a:avLst/>
          </a:prstGeom>
          <a:noFill/>
          <a:ln/>
        </p:spPr>
        <p:txBody>
          <a:bodyPr wrap="square" lIns="0" tIns="0" rIns="0" bIns="0" rtlCol="0" anchor="t"/>
          <a:lstStyle/>
          <a:p>
            <a:pPr indent="0" marL="0">
              <a:buNone/>
            </a:pPr>
            <a:r>
              <a:rPr lang="en-US" sz="1500" dirty="0">
                <a:solidFill>
                  <a:schemeClr val="tx1"/>
                </a:solidFill>
              </a:rPr>
              <a:t>Chỉ khi bạn nhắn rõ Thay ảnh đã nén lên site. Agent tải lên Media, đổi ảnh trong trang, đo lại.</a:t>
            </a:r>
            <a:endParaRPr lang="en-US" sz="1500" dirty="0"/>
          </a:p>
        </p:txBody>
      </p:sp>
      <p:sp>
        <p:nvSpPr>
          <p:cNvPr id="12" name="card-161"/>
          <p:cNvSpPr/>
          <p:nvPr/>
        </p:nvSpPr>
        <p:spPr>
          <a:xfrm>
            <a:off x="548640" y="3246120"/>
            <a:ext cx="5394960" cy="1645920"/>
          </a:xfrm>
          <a:prstGeom prst="roundRect">
            <a:avLst>
              <a:gd name="adj" fmla="val 6667"/>
            </a:avLst>
          </a:prstGeom>
          <a:solidFill>
            <a:schemeClr val="bg2"/>
          </a:solidFill>
          <a:ln/>
        </p:spPr>
      </p:sp>
      <p:sp>
        <p:nvSpPr>
          <p:cNvPr id="13" name="badge-162"/>
          <p:cNvSpPr/>
          <p:nvPr/>
        </p:nvSpPr>
        <p:spPr>
          <a:xfrm>
            <a:off x="822960" y="35204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163"/>
          <p:cNvSpPr txBox="1"/>
          <p:nvPr/>
        </p:nvSpPr>
        <p:spPr>
          <a:xfrm>
            <a:off x="1600200" y="352044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Tài khoản wp-admin</a:t>
            </a:r>
            <a:endParaRPr lang="en-US" sz="1800" dirty="0"/>
          </a:p>
        </p:txBody>
      </p:sp>
      <p:sp>
        <p:nvSpPr>
          <p:cNvPr id="15" name="text-164"/>
          <p:cNvSpPr txBox="1"/>
          <p:nvPr/>
        </p:nvSpPr>
        <p:spPr>
          <a:xfrm>
            <a:off x="1600200" y="4069080"/>
            <a:ext cx="4114800" cy="731520"/>
          </a:xfrm>
          <a:prstGeom prst="rect">
            <a:avLst/>
          </a:prstGeom>
          <a:noFill/>
          <a:ln/>
        </p:spPr>
        <p:txBody>
          <a:bodyPr wrap="square" lIns="0" tIns="0" rIns="0" bIns="0" rtlCol="0" anchor="t"/>
          <a:lstStyle/>
          <a:p>
            <a:pPr indent="0" marL="0">
              <a:buNone/>
            </a:pPr>
            <a:r>
              <a:rPr lang="en-US" sz="1500" dirty="0">
                <a:solidFill>
                  <a:schemeClr val="tx1"/>
                </a:solidFill>
              </a:rPr>
              <a:t>Tự đăng nhập trong trình duyệt agent mở, hoặc ghi WP_USER, WP_PASS vào .env. Không gửi mật khẩu qua chat.</a:t>
            </a:r>
            <a:endParaRPr lang="en-US" sz="1500" dirty="0"/>
          </a:p>
        </p:txBody>
      </p:sp>
      <p:sp>
        <p:nvSpPr>
          <p:cNvPr id="16" name="card-165"/>
          <p:cNvSpPr/>
          <p:nvPr/>
        </p:nvSpPr>
        <p:spPr>
          <a:xfrm>
            <a:off x="6217920" y="3246120"/>
            <a:ext cx="5394960" cy="1645920"/>
          </a:xfrm>
          <a:prstGeom prst="roundRect">
            <a:avLst>
              <a:gd name="adj" fmla="val 6667"/>
            </a:avLst>
          </a:prstGeom>
          <a:solidFill>
            <a:schemeClr val="bg2"/>
          </a:solidFill>
          <a:ln/>
        </p:spPr>
      </p:sp>
      <p:sp>
        <p:nvSpPr>
          <p:cNvPr id="17" name="badge-166"/>
          <p:cNvSpPr/>
          <p:nvPr/>
        </p:nvSpPr>
        <p:spPr>
          <a:xfrm>
            <a:off x="6492240" y="35204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167"/>
          <p:cNvSpPr txBox="1"/>
          <p:nvPr/>
        </p:nvSpPr>
        <p:spPr>
          <a:xfrm>
            <a:off x="7269480" y="3520440"/>
            <a:ext cx="4114800" cy="502920"/>
          </a:xfrm>
          <a:prstGeom prst="rect">
            <a:avLst/>
          </a:prstGeom>
          <a:noFill/>
          <a:ln/>
        </p:spPr>
        <p:txBody>
          <a:bodyPr wrap="square" lIns="0" tIns="0" rIns="0" bIns="0" rtlCol="0" anchor="ctr"/>
          <a:lstStyle/>
          <a:p>
            <a:pPr indent="0" marL="0">
              <a:buNone/>
            </a:pPr>
            <a:r>
              <a:rPr lang="en-US" sz="1800" b="1" dirty="0">
                <a:solidFill>
                  <a:schemeClr val="tx2"/>
                </a:solidFill>
              </a:rPr>
              <a:t>Sao lưu, hỏi trước</a:t>
            </a:r>
            <a:endParaRPr lang="en-US" sz="1800" dirty="0"/>
          </a:p>
        </p:txBody>
      </p:sp>
      <p:sp>
        <p:nvSpPr>
          <p:cNvPr id="19" name="text-168"/>
          <p:cNvSpPr txBox="1"/>
          <p:nvPr/>
        </p:nvSpPr>
        <p:spPr>
          <a:xfrm>
            <a:off x="7269480" y="4069080"/>
            <a:ext cx="4114800" cy="731520"/>
          </a:xfrm>
          <a:prstGeom prst="rect">
            <a:avLst/>
          </a:prstGeom>
          <a:noFill/>
          <a:ln/>
        </p:spPr>
        <p:txBody>
          <a:bodyPr wrap="square" lIns="0" tIns="0" rIns="0" bIns="0" rtlCol="0" anchor="t"/>
          <a:lstStyle/>
          <a:p>
            <a:pPr indent="0" marL="0">
              <a:buNone/>
            </a:pPr>
            <a:r>
              <a:rPr lang="en-US" sz="1500" dirty="0">
                <a:solidFill>
                  <a:schemeClr val="tx1"/>
                </a:solidFill>
              </a:rPr>
              <a:t>Agent sao lưu trước khi sửa và hỏi trước mỗi lần lưu. Muốn trả lại ảnh cũ: nhắn Gỡ ảnh đã thay.</a:t>
            </a:r>
            <a:endParaRPr lang="en-US" sz="1500" dirty="0"/>
          </a:p>
        </p:txBody>
      </p:sp>
      <p:sp>
        <p:nvSpPr>
          <p:cNvPr id="20" name="text-169"/>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1500" i="1" dirty="0">
                <a:solidFill>
                  <a:schemeClr val="accent5"/>
                </a:solidFill>
              </a:rPr>
              <a:t xml:space="preserve">Làm được với Gutenberg, Classic, Flatsome, WPBakery, Divi, Bricks, Elementor. Ảnh trong khối dùng chung đổi thì trang khác đổi theo. Xong việc xóa WP_USER, WP_PASS khỏi </a:t>
            </a:r>
            <a:pPr indent="0" marL="0">
              <a:buNone/>
            </a:pPr>
            <a:r>
              <a:rPr lang="en-US" sz="1500" i="1" dirty="0">
                <a:solidFill>
                  <a:schemeClr val="accent5"/>
                </a:solidFill>
                <a:latin typeface="Courier New" pitchFamily="34" charset="0"/>
                <a:ea typeface="Courier New" pitchFamily="34" charset="-122"/>
                <a:cs typeface="Courier New" pitchFamily="34" charset="-120"/>
              </a:rPr>
              <a:t>.env</a:t>
            </a:r>
            <a:pPr indent="0" marL="0">
              <a:buNone/>
            </a:pP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Vietnix Pagespeed">
  <a:themeElements>
    <a:clrScheme name="Vietnix Pagespeed">
      <a:dk1>
        <a:srgbClr val="1F2937"/>
      </a:dk1>
      <a:lt1>
        <a:srgbClr val="FFFFFF"/>
      </a:lt1>
      <a:dk2>
        <a:srgbClr val="16324F"/>
      </a:dk2>
      <a:lt2>
        <a:srgbClr val="EEF3F7"/>
      </a:lt2>
      <a:accent1>
        <a:srgbClr val="1F6F8B"/>
      </a:accent1>
      <a:accent2>
        <a:srgbClr val="E39B1B"/>
      </a:accent2>
      <a:accent3>
        <a:srgbClr val="2E9E6A"/>
      </a:accent3>
      <a:accent4>
        <a:srgbClr val="C8473B"/>
      </a:accent4>
      <a:accent5>
        <a:srgbClr val="6B7F95"/>
      </a:accent5>
      <a:accent6>
        <a:srgbClr val="9CC9D9"/>
      </a:accent6>
      <a:hlink>
        <a:srgbClr val="1F6F8B"/>
      </a:hlink>
      <a:folHlink>
        <a:srgbClr val="6B7F95"/>
      </a:folHlink>
    </a:clrScheme>
    <a:fontScheme name="Vietnix Pagespe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Hướng dẫn dùng Vietnix Pagespeed PRO</dc:title>
  <dc:subject>PptxGenJS Presentation</dc:subject>
  <dc:creator>PptxGenJS</dc:creator>
  <cp:lastModifiedBy>PptxGenJS</cp:lastModifiedBy>
  <cp:revision>1</cp:revision>
  <dcterms:created xsi:type="dcterms:W3CDTF">2026-10-14T09:38:15Z</dcterms:created>
  <dcterms:modified xsi:type="dcterms:W3CDTF">2026-10-14T09:38:15Z</dcterms:modified>
</cp:coreProperties>
</file>